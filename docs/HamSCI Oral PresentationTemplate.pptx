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63A472-6846-4A30-9526-EF0FC670E3D2}" v="43" dt="2023-12-22T02:34:29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06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C12B51-8C9C-F119-8A23-7BAA5FFEDB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8C713-7AEE-9189-777F-A2657A31B1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DBCF7-9E03-4DBA-97C9-8E4A685162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548AB-B7B2-F865-BCCF-CF7811EBE1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D4C96-053E-8EBC-69B2-ED568EFC85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19545-379C-4C24-9CBB-5E15DE6F8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68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CF454-C0D7-4326-96FF-B466AC889F2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A5EA6-6A78-4CFC-AEA2-7295E0408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1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716B-C787-D19E-4528-BFE0B3CC9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50" y="762003"/>
            <a:ext cx="11658599" cy="2790822"/>
          </a:xfrm>
        </p:spPr>
        <p:txBody>
          <a:bodyPr anchor="b">
            <a:normAutofit/>
          </a:bodyPr>
          <a:lstStyle>
            <a:lvl1pPr algn="l"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76A67-86DF-E1FB-5101-219F717C0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851" y="3735834"/>
            <a:ext cx="11658599" cy="208393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EC11-B28C-161F-CC93-0CCED827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8F4D9D76-01FF-42CB-BE01-215CC722FD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Google Shape;14;p1">
            <a:extLst>
              <a:ext uri="{FF2B5EF4-FFF2-40B4-BE49-F238E27FC236}">
                <a16:creationId xmlns:a16="http://schemas.microsoft.com/office/drawing/2014/main" id="{45CEF044-3F2A-05D7-858C-8281D4F3BB7C}"/>
              </a:ext>
            </a:extLst>
          </p:cNvPr>
          <p:cNvCxnSpPr>
            <a:cxnSpLocks/>
          </p:cNvCxnSpPr>
          <p:nvPr userDrawn="1"/>
        </p:nvCxnSpPr>
        <p:spPr>
          <a:xfrm>
            <a:off x="339852" y="3644329"/>
            <a:ext cx="116586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6784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3782-8771-4F45-1BB6-A587DD37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6B70E-9DE1-404B-5385-B445F5DA6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EF59E-8C75-F5ED-6BE2-B2CF45F9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8F4D9D76-01FF-42CB-BE01-215CC722FD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Google Shape;14;p1">
            <a:extLst>
              <a:ext uri="{FF2B5EF4-FFF2-40B4-BE49-F238E27FC236}">
                <a16:creationId xmlns:a16="http://schemas.microsoft.com/office/drawing/2014/main" id="{6C6370BE-4E9A-25D5-FA8C-A2BB9F8303D1}"/>
              </a:ext>
            </a:extLst>
          </p:cNvPr>
          <p:cNvCxnSpPr>
            <a:cxnSpLocks/>
          </p:cNvCxnSpPr>
          <p:nvPr userDrawn="1"/>
        </p:nvCxnSpPr>
        <p:spPr>
          <a:xfrm>
            <a:off x="416052" y="696341"/>
            <a:ext cx="116586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3756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716B-C787-D19E-4528-BFE0B3CC9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50" y="762003"/>
            <a:ext cx="11658599" cy="3686618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76A67-86DF-E1FB-5101-219F717C0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851" y="4611688"/>
            <a:ext cx="11658599" cy="120808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EC11-B28C-161F-CC93-0CCED827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8F4D9D76-01FF-42CB-BE01-215CC722FD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Google Shape;14;p1">
            <a:extLst>
              <a:ext uri="{FF2B5EF4-FFF2-40B4-BE49-F238E27FC236}">
                <a16:creationId xmlns:a16="http://schemas.microsoft.com/office/drawing/2014/main" id="{45CEF044-3F2A-05D7-858C-8281D4F3BB7C}"/>
              </a:ext>
            </a:extLst>
          </p:cNvPr>
          <p:cNvCxnSpPr>
            <a:cxnSpLocks/>
          </p:cNvCxnSpPr>
          <p:nvPr userDrawn="1"/>
        </p:nvCxnSpPr>
        <p:spPr>
          <a:xfrm>
            <a:off x="339852" y="4530154"/>
            <a:ext cx="116586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8495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35E1BC-918B-C150-F603-B7318D4B0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" y="19050"/>
            <a:ext cx="11658600" cy="613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79042-8433-A264-79DB-3AE6D4BD0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052" y="741299"/>
            <a:ext cx="11658600" cy="5336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oogle Shape;15;p1">
            <a:extLst>
              <a:ext uri="{FF2B5EF4-FFF2-40B4-BE49-F238E27FC236}">
                <a16:creationId xmlns:a16="http://schemas.microsoft.com/office/drawing/2014/main" id="{C98E4E5E-8D60-EEEB-2C1D-5DB1DAA63F1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524" y="6141824"/>
            <a:ext cx="12188952" cy="716176"/>
            <a:chOff x="0" y="4608576"/>
            <a:chExt cx="9144000" cy="537266"/>
          </a:xfrm>
        </p:grpSpPr>
        <p:pic>
          <p:nvPicPr>
            <p:cNvPr id="10" name="Google Shape;16;p1">
              <a:extLst>
                <a:ext uri="{FF2B5EF4-FFF2-40B4-BE49-F238E27FC236}">
                  <a16:creationId xmlns:a16="http://schemas.microsoft.com/office/drawing/2014/main" id="{C4FDF9FD-5B65-13A8-B9F6-AABBCDF58297}"/>
                </a:ext>
              </a:extLst>
            </p:cNvPr>
            <p:cNvPicPr preferRelativeResize="0"/>
            <p:nvPr userDrawn="1"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53294" y="4610918"/>
              <a:ext cx="6690706" cy="534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7;p1">
              <a:extLst>
                <a:ext uri="{FF2B5EF4-FFF2-40B4-BE49-F238E27FC236}">
                  <a16:creationId xmlns:a16="http://schemas.microsoft.com/office/drawing/2014/main" id="{77DDEF94-60C5-1F02-989A-A25ABCEC716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4608576"/>
              <a:ext cx="6690706" cy="53492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1043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tapr.org/" TargetMode="External"/><Relationship Id="rId13" Type="http://schemas.openxmlformats.org/officeDocument/2006/relationships/image" Target="../media/image2.png"/><Relationship Id="rId3" Type="http://schemas.openxmlformats.org/officeDocument/2006/relationships/hyperlink" Target="https://www.scranton.edu/academics/cas/physics-engineering/index.shtml" TargetMode="External"/><Relationship Id="rId7" Type="http://schemas.openxmlformats.org/officeDocument/2006/relationships/hyperlink" Target="https://www.haystack.mit.edu/" TargetMode="External"/><Relationship Id="rId12" Type="http://schemas.openxmlformats.org/officeDocument/2006/relationships/hyperlink" Target="https://www.ardc.net/" TargetMode="External"/><Relationship Id="rId2" Type="http://schemas.openxmlformats.org/officeDocument/2006/relationships/hyperlink" Target="https://hamsci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jit.edu/" TargetMode="External"/><Relationship Id="rId11" Type="http://schemas.openxmlformats.org/officeDocument/2006/relationships/hyperlink" Target="https://science.nasa.gov/heliophysics" TargetMode="External"/><Relationship Id="rId5" Type="http://schemas.openxmlformats.org/officeDocument/2006/relationships/hyperlink" Target="https://www.ua.edu/" TargetMode="External"/><Relationship Id="rId10" Type="http://schemas.openxmlformats.org/officeDocument/2006/relationships/hyperlink" Target="https://www.nsf.gov/div/index.jsp?div=AGS" TargetMode="External"/><Relationship Id="rId4" Type="http://schemas.openxmlformats.org/officeDocument/2006/relationships/hyperlink" Target="https://case.edu/" TargetMode="External"/><Relationship Id="rId9" Type="http://schemas.openxmlformats.org/officeDocument/2006/relationships/hyperlink" Target="http://www.arrl.org/what-is-ham-radio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EAF8EEB-E0AB-7079-E868-29CB27FEE2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D884A2DC-7BC4-BAB9-057A-9E89EF7F3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Author One KC4AAA</a:t>
            </a:r>
            <a:r>
              <a:rPr lang="en-US" b="1" baseline="30000" dirty="0"/>
              <a:t>1,2</a:t>
            </a:r>
            <a:r>
              <a:rPr lang="en-US" b="1" dirty="0"/>
              <a:t>,</a:t>
            </a:r>
            <a:r>
              <a:rPr lang="en-US" dirty="0"/>
              <a:t> Author Two KC4USV</a:t>
            </a:r>
            <a:r>
              <a:rPr lang="en-US" baseline="30000" dirty="0"/>
              <a:t>1</a:t>
            </a:r>
            <a:br>
              <a:rPr lang="en-US" dirty="0"/>
            </a:br>
            <a:endParaRPr lang="en-US" dirty="0"/>
          </a:p>
          <a:p>
            <a:r>
              <a:rPr lang="en-US" baseline="30000" dirty="0"/>
              <a:t>1</a:t>
            </a:r>
            <a:r>
              <a:rPr lang="en-US" dirty="0"/>
              <a:t>HamSCI</a:t>
            </a:r>
            <a:br>
              <a:rPr lang="en-US" dirty="0"/>
            </a:br>
            <a:r>
              <a:rPr lang="en-US" baseline="30000" dirty="0"/>
              <a:t>2</a:t>
            </a:r>
            <a:r>
              <a:rPr lang="en-US" dirty="0"/>
              <a:t>Institution Two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B969-72C4-8902-8355-E2432BF5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8F4D9D76-01FF-42CB-BE01-215CC722FDE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FA4E77-3DE4-6BD3-A85C-FD5E6D3C96B8}"/>
              </a:ext>
            </a:extLst>
          </p:cNvPr>
          <p:cNvSpPr txBox="1"/>
          <p:nvPr/>
        </p:nvSpPr>
        <p:spPr>
          <a:xfrm>
            <a:off x="6477802" y="6189044"/>
            <a:ext cx="5714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email@domain.edu</a:t>
            </a:r>
          </a:p>
        </p:txBody>
      </p:sp>
    </p:spTree>
    <p:extLst>
      <p:ext uri="{BB962C8B-B14F-4D97-AF65-F5344CB8AC3E}">
        <p14:creationId xmlns:p14="http://schemas.microsoft.com/office/powerpoint/2010/main" val="998425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1C585FC-418D-96F0-12D7-4636CD24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9C8511-37F1-3134-F0F1-F9E1746E5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24A1C3-586D-67E5-F14A-76BEF549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9D76-01FF-42CB-BE01-215CC722FD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4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5640-3E4B-59BA-03DD-4F3E11ED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2D8CD-2A6B-1F68-CF82-4EC6E0074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D4258-0DFC-1828-F029-650ECEB5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9D76-01FF-42CB-BE01-215CC722FD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3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776-E339-5D39-B2CC-69DCED88C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75918-8E7E-3FFE-67EB-40EDB9AAA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ED64A-B247-C738-2298-F01DB30F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9D76-01FF-42CB-BE01-215CC722FD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9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89E09-1BDF-D92A-6062-7D464CC1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9C95B-B928-3397-F3B3-A6A95383E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6F302-DE87-0302-489C-8216D7171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9D76-01FF-42CB-BE01-215CC722FD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6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49887-9182-5607-FD07-9732E1FDB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BE0D0-4FE8-D1B6-DED1-9F8A72568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3FEC3-8E99-C04F-9EB1-2973E137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9D76-01FF-42CB-BE01-215CC722FD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6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C691-8A65-291D-8273-5352FB99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Acknowledgments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49D6A-3102-0DB4-B626-9D4547A66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2715290"/>
            <a:ext cx="11658600" cy="3362524"/>
          </a:xfrm>
        </p:spPr>
        <p:txBody>
          <a:bodyPr>
            <a:normAutofit fontScale="77500" lnSpcReduction="20000"/>
          </a:bodyPr>
          <a:lstStyle/>
          <a:p>
            <a:pPr marL="13335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800" dirty="0">
                <a:hlinkClick r:id="rId2"/>
              </a:rPr>
              <a:t>The HamSCI Community</a:t>
            </a:r>
            <a:r>
              <a:rPr lang="en-US" sz="2800" dirty="0"/>
              <a:t> is led by </a:t>
            </a:r>
            <a:r>
              <a:rPr lang="en-US" sz="2800" dirty="0">
                <a:hlinkClick r:id="rId3"/>
              </a:rPr>
              <a:t>The University of Scranton Department of Physics and Engineering W3USR</a:t>
            </a:r>
            <a:r>
              <a:rPr lang="en-US" sz="2800" dirty="0"/>
              <a:t>, in collaboration with </a:t>
            </a:r>
            <a:r>
              <a:rPr lang="en-US" sz="2800" dirty="0">
                <a:hlinkClick r:id="rId4"/>
              </a:rPr>
              <a:t>Case Western Reserve University W8EDU</a:t>
            </a:r>
            <a:r>
              <a:rPr lang="en-US" sz="2800" dirty="0"/>
              <a:t>, the </a:t>
            </a:r>
            <a:r>
              <a:rPr lang="en-US" sz="2800" dirty="0">
                <a:hlinkClick r:id="rId5"/>
              </a:rPr>
              <a:t>University of Alabama</a:t>
            </a:r>
            <a:r>
              <a:rPr lang="en-US" sz="2800" dirty="0"/>
              <a:t>, the</a:t>
            </a:r>
            <a:r>
              <a:rPr lang="en-US" sz="2800" dirty="0">
                <a:hlinkClick r:id="rId6"/>
              </a:rPr>
              <a:t> New Jersey Institute of Technology Center for Solar Terrestrial Physics K2MFF</a:t>
            </a:r>
            <a:r>
              <a:rPr lang="en-US" sz="2800" dirty="0"/>
              <a:t>, the </a:t>
            </a:r>
            <a:r>
              <a:rPr lang="en-US" sz="2800" dirty="0">
                <a:hlinkClick r:id="rId7"/>
              </a:rPr>
              <a:t>MIT Haystack Observatory</a:t>
            </a:r>
            <a:r>
              <a:rPr lang="en-US" sz="2800" dirty="0"/>
              <a:t>, </a:t>
            </a:r>
            <a:r>
              <a:rPr lang="en-US" sz="2800" dirty="0">
                <a:hlinkClick r:id="rId8"/>
              </a:rPr>
              <a:t>TAPR</a:t>
            </a:r>
            <a:r>
              <a:rPr lang="en-US" sz="2800" dirty="0"/>
              <a:t>, additional collaborating universities and institutions, and volunteer members of the </a:t>
            </a:r>
            <a:r>
              <a:rPr lang="en-US" sz="2800" dirty="0">
                <a:hlinkClick r:id="rId9"/>
              </a:rPr>
              <a:t>amateur radio</a:t>
            </a:r>
            <a:r>
              <a:rPr lang="en-US" sz="2800" dirty="0"/>
              <a:t> and citizen science communities. </a:t>
            </a:r>
          </a:p>
          <a:p>
            <a:pPr marL="13335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800" dirty="0"/>
              <a:t>We are grateful for the financial support of the </a:t>
            </a:r>
            <a:r>
              <a:rPr lang="en-US" sz="2800" dirty="0">
                <a:hlinkClick r:id="rId10"/>
              </a:rPr>
              <a:t>United States National Science Foundation</a:t>
            </a:r>
            <a:r>
              <a:rPr lang="en-US" sz="2800" dirty="0"/>
              <a:t>, </a:t>
            </a:r>
            <a:r>
              <a:rPr lang="en-US" sz="2800" dirty="0">
                <a:hlinkClick r:id="rId11"/>
              </a:rPr>
              <a:t>NASA</a:t>
            </a:r>
            <a:r>
              <a:rPr lang="en-US" sz="2800" dirty="0"/>
              <a:t>, and </a:t>
            </a:r>
            <a:r>
              <a:rPr lang="en-US" sz="2800" dirty="0">
                <a:hlinkClick r:id="rId12"/>
              </a:rPr>
              <a:t>Amateur Radio Digital Communications (ARDC)</a:t>
            </a:r>
            <a:r>
              <a:rPr lang="en-US" sz="2800" dirty="0"/>
              <a:t>.</a:t>
            </a:r>
            <a:endParaRPr lang="en-US" sz="2400" dirty="0"/>
          </a:p>
          <a:p>
            <a:pPr marL="133350" indent="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800" dirty="0"/>
              <a:t>HamSCI silhouette photo by Ann Marie Rogalcheck-Frissell KC2KRQ.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AFB3F-BD36-842E-9196-FEFA9C72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9D76-01FF-42CB-BE01-215CC722FDE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2" descr="Logos of HamSCI Collaborators and Funding Agencies">
            <a:extLst>
              <a:ext uri="{FF2B5EF4-FFF2-40B4-BE49-F238E27FC236}">
                <a16:creationId xmlns:a16="http://schemas.microsoft.com/office/drawing/2014/main" id="{268DEB81-B7BF-2E5A-9815-B7E1C74A8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780187"/>
            <a:ext cx="11658600" cy="178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97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2C60-F4D4-B302-CD5D-0DA2ED832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515F9-4886-BFC9-8444-D4E71856B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823A3-72CF-37E4-C6A6-42803408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9D76-01FF-42CB-BE01-215CC722FD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09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Presentation Title</vt:lpstr>
      <vt:lpstr>Introduction</vt:lpstr>
      <vt:lpstr>Methodology</vt:lpstr>
      <vt:lpstr>Results</vt:lpstr>
      <vt:lpstr>Discussion</vt:lpstr>
      <vt:lpstr>Summary</vt:lpstr>
      <vt:lpstr>Acknowledgments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Dr. Nathaniel A. Frissell Ph.D.</dc:creator>
  <cp:lastModifiedBy>Dr. Nathaniel A. Frissell Ph.D.</cp:lastModifiedBy>
  <cp:revision>2</cp:revision>
  <dcterms:created xsi:type="dcterms:W3CDTF">2023-12-22T02:13:30Z</dcterms:created>
  <dcterms:modified xsi:type="dcterms:W3CDTF">2026-02-10T02:46:54Z</dcterms:modified>
</cp:coreProperties>
</file>