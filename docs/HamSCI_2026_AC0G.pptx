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9"/>
    <p:sldId id="257" r:id="rId8"/>
    <p:sldId id="258" r:id="rId7"/>
    <p:sldId id="259" r:id="rId6"/>
    <p:sldId id="260" r:id="rId5"/>
    <p:sldId id="261" r:id="rId4"/>
    <p:sldId id="262" r:id="rId3"/>
    <p:sldId id="263" r:id="rId2"/>
    <p:sldId id="264" r:id="rId17"/>
    <p:sldId id="265"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3A472-6846-4A30-9526-EF0FC670E3D2}" v="43" dt="2023-12-22T02:34:29.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12" y="84"/>
      </p:cViewPr>
      <p:guideLst/>
    </p:cSldViewPr>
  </p:slideViewPr>
  <p:notesTextViewPr>
    <p:cViewPr>
      <p:scale>
        <a:sx n="1" d="1"/>
        <a:sy n="1" d="1"/>
      </p:scale>
      <p:origin x="0" y="0"/>
    </p:cViewPr>
  </p:notesTextViewPr>
  <p:notesViewPr>
    <p:cSldViewPr snapToGrid="0">
      <p:cViewPr varScale="1">
        <p:scale>
          <a:sx n="80" d="100"/>
          <a:sy n="80" d="100"/>
        </p:scale>
        <p:origin x="3066" y="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5/10/relationships/revisionInfo" Target="revisionInfo.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C12B51-8C9C-F119-8A23-7BAA5FFEDB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88C713-7AEE-9189-777F-A2657A31B1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DBCF7-9E03-4DBA-97C9-8E4A685162FF}" type="datetimeFigureOut">
              <a:rPr lang="en-US" smtClean="0"/>
              <a:t>2/9/2026</a:t>
            </a:fld>
            <a:endParaRPr lang="en-US"/>
          </a:p>
        </p:txBody>
      </p:sp>
      <p:sp>
        <p:nvSpPr>
          <p:cNvPr id="4" name="Footer Placeholder 3">
            <a:extLst>
              <a:ext uri="{FF2B5EF4-FFF2-40B4-BE49-F238E27FC236}">
                <a16:creationId xmlns:a16="http://schemas.microsoft.com/office/drawing/2014/main" id="{2A9548AB-B7B2-F865-BCCF-CF7811EBE1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BCD4C96-053E-8EBC-69B2-ED568EFC85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719545-379C-4C24-9CBB-5E15DE6F87B9}" type="slidenum">
              <a:rPr lang="en-US" smtClean="0"/>
              <a:t>‹#›</a:t>
            </a:fld>
            <a:endParaRPr lang="en-US"/>
          </a:p>
        </p:txBody>
      </p:sp>
    </p:spTree>
    <p:extLst>
      <p:ext uri="{BB962C8B-B14F-4D97-AF65-F5344CB8AC3E}">
        <p14:creationId xmlns:p14="http://schemas.microsoft.com/office/powerpoint/2010/main" val="8643681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BCF454-C0D7-4326-96FF-B466AC889F2F}"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9A5EA6-6A78-4CFC-AEA2-7295E04080DA}" type="slidenum">
              <a:rPr lang="en-US" smtClean="0"/>
              <a:t>‹#›</a:t>
            </a:fld>
            <a:endParaRPr lang="en-US"/>
          </a:p>
        </p:txBody>
      </p:sp>
    </p:spTree>
    <p:extLst>
      <p:ext uri="{BB962C8B-B14F-4D97-AF65-F5344CB8AC3E}">
        <p14:creationId xmlns:p14="http://schemas.microsoft.com/office/powerpoint/2010/main" val="3012213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is organized around one question: if you have an RX888 and a GPSDO listening to time standard stations, what ionospheric science can you actually extract? The answer depends on your timing infrastructure, and it turns out the science payoff is much larger than you might expect.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organizing framework. On the left is what hardware you have. On the right is what ionospheric phenomena you can observe. The GPSDO — around 160 dollars for a Leo Bodnar — is the single most important upgrade. It gives you a 1 part-per-billion sample clock, which makes carrier-phase measurements metrologically coherent. That unlocks Doppler, dTEC/dt, and scintillation — all rate measurements that don't need to know what time it is, only that consecutive samples are exactly spaced. The absolute delay products — D_clock, mode identification, group-delay TEC — need to know when in UTC each tick arrived. That's either an external PPS reference or, as I'll show, something we can recover from the time signals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measurement engine is a tick edge detector inspired by the ntpd WWV refclock driver. For every second of the minute, it cross-correlates a station-specific template against the IQ data, finds the front edge with sub-sample precision, and extracts both the timing error and the carrier phase. From 50 to 57 ticks, we build a robust median ensemble. The carrier phase across the minute gives Doppler — and notice, that only needs a stable sample clock. It doesn't need to know what time it is. But D_clock — the absolute propagation delay — does need UTC. That's the bridge we build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we're listening to time standard stations and we know their broadcast schedules, we can recover UTC from the signals themselves. We run two independent Kalman filters — L1 uses geometric path delays, L2 adds an ionospheric correction. Both feed Chrony as reference clocks. The result: our HF-derived time is 100 times better than internet NTP and within about 1 millisecond of GPS ground truth. The ionospheric correction makes L2 three times tighter than L1 — it's doing real work. This is the bridge: a station with only a GPSDO can recover absolute time from the HF signals and unlock the D_clock products.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shared frequencies, three stations transmit simultaneously. We separate them with a layered approach. The strongest discriminator is the tick frequency gate — WWV at 1000 Hz, WWVH at 1200 Hz. For ground truth, the NIST tone schedule gives us 14 minutes per hour where only one station is broadcasting its audio tone. The physical validation is compelling: the D_clock offsets follow propagation geometry on all four shared frequencies, and the cross-station Doppler correlations are zero — proving these really are independent ionospheric paths, not artifacts of the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payoff. Group-delay TEC — the classical approach of measuring 1/f² dispersion — is below our noise floor. The propagation model has 6.5 millisecond errors, the dispersion signal is 0.85 milliseconds. We can't see it. But carrier-phase dTEC bypasses this entirely. We measure the Doppler shift — the rate of change of carrier phase — and convert it to dTEC/dt. The sensitivity is 6 milli-TECU per minute. And crucially, this is a Tier 2 product: it only needs the GPSDO, not absolute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we're measuring real ionospheric physics? For each station, we compare dTEC at different frequencies on the same path. They agree to within 0.03 TECU RMS. This is 22,000 consistency checks per day, all passing.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CHU at 7.85 MHz — an exclusive channel with no discrimination ambiguity. Four panels, one ionospheric path. At top, D_clock shows the diurnal propagation delay variation. Below, Doppler — the carrier phase slope. Then dTEC/dt derived from Doppler. The bottom panel is the key: if we integrate the Doppler, it should track the shape of D_clock. It does — r = 0.60 — but at 82 times smaller amplitude. The Doppler is measuring real ionospheric motion, at a sensitivity 82 times finer than D_clock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system monitors 17 simultaneous paths through the ionosphere. On the shared channels, three stations at the same frequency give three independent ionospheric soundings — the Doppler correlation is zero, confirming they see different paths. Across frequencies, WWV from 2.5 to 25 MHz samples six different layers. CHU across three frequencies shows correlated Doppler — same path, same ionosphere, consistent. The correlation heatmap makes the structure clear: station clusters are independent, within-station cross-frequency is correlated. This is essentially a passive oblique ionosonde with 17 beams.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doesn't work yet: group-delay TEC is buried in noise. VTEC maps from HF alone aren't credible. Scintillation monitoring is built but the ionosphere has been quiet. What just shipped: GNSS-anchored dTEC, using a local GPS receiver to provide absolute scale. What's coming: PPS injection directly into the HF IQ stream — that's Tier 4, which would give us microsecond timing on every sample and potentially rescue group-delay TEC. But I want to leave you with two bigger ideas. First: a network of these stations. Each one gives 17 ionospheric paths. Ten stations across the continent gives 170 paths — that's a passive oblique ionosonde network using transmitters that are already on the air. Correlated Doppler across sites gives you TID wavefront direction and velocity. Second: multiple GPSDO-locked RX888s at a single site. Because they share the same 10 MHz reference, the antennas are phase-coherent — you get a phased array for free. Antenna spacing of 15 meters at 10 MHz gives you angle-of-arrival discrimination. That means you can separate multipath arrivals by direction, not just by delay, and track Doppler and dTEC on individual ray paths. The infrastructure is the same — the GPSDO is doing the heavy lifting.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with about 340 dollars of hardware — an RX888 and a Leo Bodnar GPSDO — open-source software, and the time standard stations that are already on the air, you can build a 17-path ionospheric sounder that runs 24/7. The data products are scientifically meaningful, self-consistent, and validated against GPS ground truth. The code is on GitHub under MIT license. I'd love to see a network of these stations.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716B-C787-D19E-4528-BFE0B3CC9272}"/>
              </a:ext>
            </a:extLst>
          </p:cNvPr>
          <p:cNvSpPr>
            <a:spLocks noGrp="1"/>
          </p:cNvSpPr>
          <p:nvPr>
            <p:ph type="ctrTitle"/>
          </p:nvPr>
        </p:nvSpPr>
        <p:spPr>
          <a:xfrm>
            <a:off x="339850" y="762003"/>
            <a:ext cx="11658599" cy="2790822"/>
          </a:xfrm>
        </p:spPr>
        <p:txBody>
          <a:bodyPr anchor="b">
            <a:normAutofit/>
          </a:bodyPr>
          <a:lstStyle>
            <a:lvl1pPr algn="l">
              <a:defRPr sz="6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5F576A67-86DF-E1FB-5101-219F717C05B5}"/>
              </a:ext>
            </a:extLst>
          </p:cNvPr>
          <p:cNvSpPr>
            <a:spLocks noGrp="1"/>
          </p:cNvSpPr>
          <p:nvPr>
            <p:ph type="subTitle" idx="1"/>
          </p:nvPr>
        </p:nvSpPr>
        <p:spPr>
          <a:xfrm>
            <a:off x="339851" y="3735834"/>
            <a:ext cx="11658599" cy="2083938"/>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F2F0EC11-B28C-161F-CC93-0CCED827B65E}"/>
              </a:ext>
            </a:extLst>
          </p:cNvPr>
          <p:cNvSpPr>
            <a:spLocks noGrp="1"/>
          </p:cNvSpPr>
          <p:nvPr>
            <p:ph type="sldNum" sz="quarter" idx="12"/>
          </p:nvPr>
        </p:nvSpPr>
        <p:spPr>
          <a:xfrm>
            <a:off x="9448800" y="0"/>
            <a:ext cx="2743200" cy="365125"/>
          </a:xfrm>
          <a:prstGeom prst="rect">
            <a:avLst/>
          </a:prstGeom>
        </p:spPr>
        <p:txBody>
          <a:bodyPr/>
          <a:lstStyle>
            <a:lvl1pPr algn="r">
              <a:defRPr/>
            </a:lvl1pPr>
          </a:lstStyle>
          <a:p>
            <a:fld id="{8F4D9D76-01FF-42CB-BE01-215CC722FDE5}" type="slidenum">
              <a:rPr lang="en-US" smtClean="0"/>
              <a:pPr/>
              <a:t>‹#›</a:t>
            </a:fld>
            <a:endParaRPr lang="en-US"/>
          </a:p>
        </p:txBody>
      </p:sp>
      <p:cxnSp>
        <p:nvCxnSpPr>
          <p:cNvPr id="7" name="Google Shape;14;p1">
            <a:extLst>
              <a:ext uri="{FF2B5EF4-FFF2-40B4-BE49-F238E27FC236}">
                <a16:creationId xmlns:a16="http://schemas.microsoft.com/office/drawing/2014/main" id="{45CEF044-3F2A-05D7-858C-8281D4F3BB7C}"/>
              </a:ext>
            </a:extLst>
          </p:cNvPr>
          <p:cNvCxnSpPr>
            <a:cxnSpLocks/>
          </p:cNvCxnSpPr>
          <p:nvPr userDrawn="1"/>
        </p:nvCxnSpPr>
        <p:spPr>
          <a:xfrm>
            <a:off x="339852" y="3644329"/>
            <a:ext cx="11658600" cy="0"/>
          </a:xfrm>
          <a:prstGeom prst="straightConnector1">
            <a:avLst/>
          </a:prstGeom>
          <a:noFill/>
          <a:ln w="19050" cap="flat" cmpd="sng">
            <a:solidFill>
              <a:schemeClr val="tx1"/>
            </a:solidFill>
            <a:prstDash val="solid"/>
            <a:round/>
            <a:headEnd type="none" w="sm" len="sm"/>
            <a:tailEnd type="none" w="sm" len="sm"/>
          </a:ln>
        </p:spPr>
      </p:cxnSp>
    </p:spTree>
    <p:extLst>
      <p:ext uri="{BB962C8B-B14F-4D97-AF65-F5344CB8AC3E}">
        <p14:creationId xmlns:p14="http://schemas.microsoft.com/office/powerpoint/2010/main" val="1567842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3782-8771-4F45-1BB6-A587DD371C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A6B70E-9DE1-404B-5385-B445F5DA6D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6BEF59E-8C75-F5ED-6BE2-B2CF45F99D2A}"/>
              </a:ext>
            </a:extLst>
          </p:cNvPr>
          <p:cNvSpPr>
            <a:spLocks noGrp="1"/>
          </p:cNvSpPr>
          <p:nvPr>
            <p:ph type="sldNum" sz="quarter" idx="12"/>
          </p:nvPr>
        </p:nvSpPr>
        <p:spPr>
          <a:xfrm>
            <a:off x="9448800" y="0"/>
            <a:ext cx="2743200" cy="365125"/>
          </a:xfrm>
          <a:prstGeom prst="rect">
            <a:avLst/>
          </a:prstGeom>
        </p:spPr>
        <p:txBody>
          <a:bodyPr/>
          <a:lstStyle>
            <a:lvl1pPr algn="r">
              <a:defRPr/>
            </a:lvl1pPr>
          </a:lstStyle>
          <a:p>
            <a:fld id="{8F4D9D76-01FF-42CB-BE01-215CC722FDE5}" type="slidenum">
              <a:rPr lang="en-US" smtClean="0"/>
              <a:pPr/>
              <a:t>‹#›</a:t>
            </a:fld>
            <a:endParaRPr lang="en-US"/>
          </a:p>
        </p:txBody>
      </p:sp>
      <p:cxnSp>
        <p:nvCxnSpPr>
          <p:cNvPr id="7" name="Google Shape;14;p1">
            <a:extLst>
              <a:ext uri="{FF2B5EF4-FFF2-40B4-BE49-F238E27FC236}">
                <a16:creationId xmlns:a16="http://schemas.microsoft.com/office/drawing/2014/main" id="{6C6370BE-4E9A-25D5-FA8C-A2BB9F8303D1}"/>
              </a:ext>
            </a:extLst>
          </p:cNvPr>
          <p:cNvCxnSpPr>
            <a:cxnSpLocks/>
          </p:cNvCxnSpPr>
          <p:nvPr userDrawn="1"/>
        </p:nvCxnSpPr>
        <p:spPr>
          <a:xfrm>
            <a:off x="416052" y="696341"/>
            <a:ext cx="11658600" cy="0"/>
          </a:xfrm>
          <a:prstGeom prst="straightConnector1">
            <a:avLst/>
          </a:prstGeom>
          <a:noFill/>
          <a:ln w="19050" cap="flat" cmpd="sng">
            <a:solidFill>
              <a:schemeClr val="tx1"/>
            </a:solidFill>
            <a:prstDash val="solid"/>
            <a:round/>
            <a:headEnd type="none" w="sm" len="sm"/>
            <a:tailEnd type="none" w="sm" len="sm"/>
          </a:ln>
        </p:spPr>
      </p:cxnSp>
    </p:spTree>
    <p:extLst>
      <p:ext uri="{BB962C8B-B14F-4D97-AF65-F5344CB8AC3E}">
        <p14:creationId xmlns:p14="http://schemas.microsoft.com/office/powerpoint/2010/main" val="173756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716B-C787-D19E-4528-BFE0B3CC9272}"/>
              </a:ext>
            </a:extLst>
          </p:cNvPr>
          <p:cNvSpPr>
            <a:spLocks noGrp="1"/>
          </p:cNvSpPr>
          <p:nvPr>
            <p:ph type="ctrTitle"/>
          </p:nvPr>
        </p:nvSpPr>
        <p:spPr>
          <a:xfrm>
            <a:off x="339850" y="762003"/>
            <a:ext cx="11658599" cy="3686618"/>
          </a:xfr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5F576A67-86DF-E1FB-5101-219F717C05B5}"/>
              </a:ext>
            </a:extLst>
          </p:cNvPr>
          <p:cNvSpPr>
            <a:spLocks noGrp="1"/>
          </p:cNvSpPr>
          <p:nvPr>
            <p:ph type="subTitle" idx="1"/>
          </p:nvPr>
        </p:nvSpPr>
        <p:spPr>
          <a:xfrm>
            <a:off x="339851" y="4611688"/>
            <a:ext cx="11658599" cy="1208084"/>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F2F0EC11-B28C-161F-CC93-0CCED827B65E}"/>
              </a:ext>
            </a:extLst>
          </p:cNvPr>
          <p:cNvSpPr>
            <a:spLocks noGrp="1"/>
          </p:cNvSpPr>
          <p:nvPr>
            <p:ph type="sldNum" sz="quarter" idx="12"/>
          </p:nvPr>
        </p:nvSpPr>
        <p:spPr>
          <a:xfrm>
            <a:off x="9448800" y="0"/>
            <a:ext cx="2743200" cy="365125"/>
          </a:xfrm>
          <a:prstGeom prst="rect">
            <a:avLst/>
          </a:prstGeom>
        </p:spPr>
        <p:txBody>
          <a:bodyPr/>
          <a:lstStyle>
            <a:lvl1pPr algn="r">
              <a:defRPr/>
            </a:lvl1pPr>
          </a:lstStyle>
          <a:p>
            <a:fld id="{8F4D9D76-01FF-42CB-BE01-215CC722FDE5}" type="slidenum">
              <a:rPr lang="en-US" smtClean="0"/>
              <a:pPr/>
              <a:t>‹#›</a:t>
            </a:fld>
            <a:endParaRPr lang="en-US"/>
          </a:p>
        </p:txBody>
      </p:sp>
      <p:cxnSp>
        <p:nvCxnSpPr>
          <p:cNvPr id="7" name="Google Shape;14;p1">
            <a:extLst>
              <a:ext uri="{FF2B5EF4-FFF2-40B4-BE49-F238E27FC236}">
                <a16:creationId xmlns:a16="http://schemas.microsoft.com/office/drawing/2014/main" id="{45CEF044-3F2A-05D7-858C-8281D4F3BB7C}"/>
              </a:ext>
            </a:extLst>
          </p:cNvPr>
          <p:cNvCxnSpPr>
            <a:cxnSpLocks/>
          </p:cNvCxnSpPr>
          <p:nvPr userDrawn="1"/>
        </p:nvCxnSpPr>
        <p:spPr>
          <a:xfrm>
            <a:off x="339852" y="4530154"/>
            <a:ext cx="11658600" cy="0"/>
          </a:xfrm>
          <a:prstGeom prst="straightConnector1">
            <a:avLst/>
          </a:prstGeom>
          <a:noFill/>
          <a:ln w="19050" cap="flat" cmpd="sng">
            <a:solidFill>
              <a:schemeClr val="tx1"/>
            </a:solidFill>
            <a:prstDash val="solid"/>
            <a:round/>
            <a:headEnd type="none" w="sm" len="sm"/>
            <a:tailEnd type="none" w="sm" len="sm"/>
          </a:ln>
        </p:spPr>
      </p:cxnSp>
    </p:spTree>
    <p:extLst>
      <p:ext uri="{BB962C8B-B14F-4D97-AF65-F5344CB8AC3E}">
        <p14:creationId xmlns:p14="http://schemas.microsoft.com/office/powerpoint/2010/main" val="15849512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35E1BC-918B-C150-F603-B7318D4B01A7}"/>
              </a:ext>
            </a:extLst>
          </p:cNvPr>
          <p:cNvSpPr>
            <a:spLocks noGrp="1"/>
          </p:cNvSpPr>
          <p:nvPr>
            <p:ph type="title"/>
          </p:nvPr>
        </p:nvSpPr>
        <p:spPr>
          <a:xfrm>
            <a:off x="416052" y="19050"/>
            <a:ext cx="11658600" cy="61328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DA79042-8433-A264-79DB-3AE6D4BD0F08}"/>
              </a:ext>
            </a:extLst>
          </p:cNvPr>
          <p:cNvSpPr>
            <a:spLocks noGrp="1"/>
          </p:cNvSpPr>
          <p:nvPr>
            <p:ph type="body" idx="1"/>
          </p:nvPr>
        </p:nvSpPr>
        <p:spPr>
          <a:xfrm>
            <a:off x="416052" y="741299"/>
            <a:ext cx="11658600" cy="53365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oogle Shape;15;p1">
            <a:extLst>
              <a:ext uri="{FF2B5EF4-FFF2-40B4-BE49-F238E27FC236}">
                <a16:creationId xmlns:a16="http://schemas.microsoft.com/office/drawing/2014/main" id="{C98E4E5E-8D60-EEEB-2C1D-5DB1DAA63F1A}"/>
              </a:ext>
            </a:extLst>
          </p:cNvPr>
          <p:cNvGrpSpPr>
            <a:grpSpLocks noChangeAspect="1"/>
          </p:cNvGrpSpPr>
          <p:nvPr userDrawn="1"/>
        </p:nvGrpSpPr>
        <p:grpSpPr>
          <a:xfrm>
            <a:off x="1524" y="6141824"/>
            <a:ext cx="12188952" cy="716176"/>
            <a:chOff x="0" y="4608576"/>
            <a:chExt cx="9144000" cy="537266"/>
          </a:xfrm>
        </p:grpSpPr>
        <p:pic>
          <p:nvPicPr>
            <p:cNvPr id="10" name="Google Shape;16;p1">
              <a:extLst>
                <a:ext uri="{FF2B5EF4-FFF2-40B4-BE49-F238E27FC236}">
                  <a16:creationId xmlns:a16="http://schemas.microsoft.com/office/drawing/2014/main" id="{C4FDF9FD-5B65-13A8-B9F6-AABBCDF58297}"/>
                </a:ext>
              </a:extLst>
            </p:cNvPr>
            <p:cNvPicPr preferRelativeResize="0"/>
            <p:nvPr userDrawn="1"/>
          </p:nvPicPr>
          <p:blipFill rotWithShape="1">
            <a:blip r:embed="rId5">
              <a:alphaModFix/>
            </a:blip>
            <a:srcRect/>
            <a:stretch/>
          </p:blipFill>
          <p:spPr>
            <a:xfrm>
              <a:off x="2453294" y="4610918"/>
              <a:ext cx="6690706" cy="534924"/>
            </a:xfrm>
            <a:prstGeom prst="rect">
              <a:avLst/>
            </a:prstGeom>
            <a:noFill/>
            <a:ln>
              <a:noFill/>
            </a:ln>
          </p:spPr>
        </p:pic>
        <p:pic>
          <p:nvPicPr>
            <p:cNvPr id="11" name="Google Shape;17;p1">
              <a:extLst>
                <a:ext uri="{FF2B5EF4-FFF2-40B4-BE49-F238E27FC236}">
                  <a16:creationId xmlns:a16="http://schemas.microsoft.com/office/drawing/2014/main" id="{77DDEF94-60C5-1F02-989A-A25ABCEC7168}"/>
                </a:ext>
              </a:extLst>
            </p:cNvPr>
            <p:cNvPicPr preferRelativeResize="0"/>
            <p:nvPr/>
          </p:nvPicPr>
          <p:blipFill rotWithShape="1">
            <a:blip r:embed="rId5">
              <a:alphaModFix/>
            </a:blip>
            <a:srcRect/>
            <a:stretch/>
          </p:blipFill>
          <p:spPr>
            <a:xfrm>
              <a:off x="0" y="4608576"/>
              <a:ext cx="6690706" cy="534924"/>
            </a:xfrm>
            <a:prstGeom prst="rect">
              <a:avLst/>
            </a:prstGeom>
            <a:noFill/>
            <a:ln>
              <a:noFill/>
            </a:ln>
          </p:spPr>
        </p:pic>
      </p:grpSp>
    </p:spTree>
    <p:extLst>
      <p:ext uri="{BB962C8B-B14F-4D97-AF65-F5344CB8AC3E}">
        <p14:creationId xmlns:p14="http://schemas.microsoft.com/office/powerpoint/2010/main" val="4110438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With an RX888 and a GPSDO,</a:t>
            </a:r>
          </a:p>
          <a:p>
            <a:r>
              <a:t>What Kind of Ionospheric Science Can We Do?</a:t>
            </a:r>
          </a:p>
        </p:txBody>
      </p:sp>
      <p:sp>
        <p:nvSpPr>
          <p:cNvPr id="3" name="Subtitle 2"/>
          <p:cNvSpPr>
            <a:spLocks noGrp="1"/>
          </p:cNvSpPr>
          <p:nvPr>
            <p:ph type="subTitle" idx="1"/>
          </p:nvPr>
        </p:nvSpPr>
        <p:spPr/>
        <p:txBody>
          <a:bodyPr/>
          <a:lstStyle/>
          <a:p>
            <a:r>
              <a:t>Michael James Hauan (AC0G)</a:t>
            </a:r>
          </a:p>
          <a:p>
            <a:r>
              <a:t>EM38, Central Missouri</a:t>
            </a:r>
          </a:p>
          <a:p/>
          <a:p>
            <a:r>
              <a:t>4 stations · 9 frequencies · 17 simultaneous paths</a:t>
            </a:r>
          </a:p>
          <a:p>
            <a:r>
              <a:t>Single RX888 SDR + Leo Bodnar GPSDO via KA9Q-radio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Phenomena Ladder — What Each Tier Unlocks</a:t>
            </a:r>
          </a:p>
        </p:txBody>
      </p:sp>
      <p:sp>
        <p:nvSpPr>
          <p:cNvPr id="3" name="Content Placeholder 2"/>
          <p:cNvSpPr>
            <a:spLocks noGrp="1"/>
          </p:cNvSpPr>
          <p:nvPr>
            <p:ph idx="1"/>
          </p:nvPr>
        </p:nvSpPr>
        <p:spPr/>
        <p:txBody>
          <a:bodyPr/>
          <a:lstStyle/>
          <a:p/>
        </p:txBody>
      </p:sp>
      <p:pic>
        <p:nvPicPr>
          <p:cNvPr id="4" name="Picture 3" descr="fig15_phenomena_ladder.png"/>
          <p:cNvPicPr>
            <a:picLocks noChangeAspect="1"/>
          </p:cNvPicPr>
          <p:nvPr/>
        </p:nvPicPr>
        <p:blipFill>
          <a:blip r:embed="rId2"/>
          <a:stretch>
            <a:fillRect/>
          </a:stretch>
        </p:blipFill>
        <p:spPr>
          <a:xfrm>
            <a:off x="274320" y="640080"/>
            <a:ext cx="11612880" cy="5943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TickEdgeDetector — The Measurement Engine</a:t>
            </a:r>
          </a:p>
        </p:txBody>
      </p:sp>
      <p:sp>
        <p:nvSpPr>
          <p:cNvPr id="3" name="Content Placeholder 2"/>
          <p:cNvSpPr>
            <a:spLocks noGrp="1"/>
          </p:cNvSpPr>
          <p:nvPr>
            <p:ph idx="1"/>
          </p:nvPr>
        </p:nvSpPr>
        <p:spPr/>
        <p:txBody>
          <a:bodyPr/>
          <a:lstStyle/>
          <a:p/>
        </p:txBody>
      </p:sp>
      <p:sp>
        <p:nvSpPr>
          <p:cNvPr id="4" name="TextBox 3"/>
          <p:cNvSpPr txBox="1"/>
          <p:nvPr/>
        </p:nvSpPr>
        <p:spPr>
          <a:xfrm>
            <a:off x="365760" y="822960"/>
            <a:ext cx="5486400" cy="5029200"/>
          </a:xfrm>
          <a:prstGeom prst="rect">
            <a:avLst/>
          </a:prstGeom>
          <a:noFill/>
        </p:spPr>
        <p:txBody>
          <a:bodyPr wrap="square">
            <a:spAutoFit/>
          </a:bodyPr>
          <a:lstStyle/>
          <a:p>
            <a:pPr>
              <a:spcAft>
                <a:spcPts val="400"/>
              </a:spcAft>
              <a:defRPr sz="1500">
                <a:latin typeface="Calibri"/>
              </a:defRPr>
            </a:pPr>
            <a:r>
              <a:t>50–57 ticks per minute, per channel</a:t>
            </a:r>
          </a:p>
          <a:p>
            <a:pPr>
              <a:spcAft>
                <a:spcPts val="400"/>
              </a:spcAft>
              <a:defRPr sz="1500">
                <a:latin typeface="Calibri"/>
              </a:defRPr>
            </a:pPr>
            <a:r>
              <a:t>Matched-filter correlation with station-specific templates</a:t>
            </a:r>
          </a:p>
          <a:p>
            <a:pPr>
              <a:spcAft>
                <a:spcPts val="400"/>
              </a:spcAft>
              <a:defRPr sz="1500">
                <a:latin typeface="Calibri"/>
              </a:defRPr>
            </a:pPr>
            <a:r>
              <a:t>Front-edge back-calculation + sub-sample interpolation</a:t>
            </a:r>
          </a:p>
          <a:p>
            <a:pPr>
              <a:spcAft>
                <a:spcPts val="400"/>
              </a:spcAft>
              <a:defRPr sz="1500">
                <a:latin typeface="Calibri"/>
              </a:defRPr>
            </a:pPr>
            <a:r>
              <a:t>SNR-weighted robust median ensemble</a:t>
            </a:r>
          </a:p>
          <a:p>
            <a:pPr>
              <a:spcAft>
                <a:spcPts val="400"/>
              </a:spcAft>
              <a:defRPr sz="1500">
                <a:latin typeface="Calibri"/>
              </a:defRPr>
            </a:pPr>
          </a:p>
          <a:p>
            <a:pPr>
              <a:spcAft>
                <a:spcPts val="400"/>
              </a:spcAft>
              <a:defRPr sz="1500">
                <a:latin typeface="Calibri"/>
              </a:defRPr>
            </a:pPr>
            <a:r>
              <a:t>From each tick:</a:t>
            </a:r>
          </a:p>
          <a:p>
            <a:pPr>
              <a:spcAft>
                <a:spcPts val="400"/>
              </a:spcAft>
              <a:defRPr sz="1500">
                <a:latin typeface="Calibri"/>
              </a:defRPr>
            </a:pPr>
            <a:r>
              <a:t>  • Timing error (AM domain)</a:t>
            </a:r>
          </a:p>
          <a:p>
            <a:pPr>
              <a:spcAft>
                <a:spcPts val="400"/>
              </a:spcAft>
              <a:defRPr sz="1500">
                <a:latin typeface="Calibri"/>
              </a:defRPr>
            </a:pPr>
            <a:r>
              <a:t>  • Carrier phase (IQ domain)</a:t>
            </a:r>
          </a:p>
          <a:p>
            <a:pPr>
              <a:spcAft>
                <a:spcPts val="400"/>
              </a:spcAft>
              <a:defRPr sz="1500">
                <a:latin typeface="Calibri"/>
              </a:defRPr>
            </a:pPr>
            <a:r>
              <a:t>  • SNR</a:t>
            </a:r>
          </a:p>
          <a:p>
            <a:pPr>
              <a:spcAft>
                <a:spcPts val="400"/>
              </a:spcAft>
              <a:defRPr sz="1500">
                <a:latin typeface="Calibri"/>
              </a:defRPr>
            </a:pPr>
          </a:p>
          <a:p>
            <a:pPr>
              <a:spcAft>
                <a:spcPts val="400"/>
              </a:spcAft>
              <a:defRPr sz="1500">
                <a:latin typeface="Calibri"/>
              </a:defRPr>
            </a:pPr>
            <a:r>
              <a:t>From the minute ensemble:</a:t>
            </a:r>
          </a:p>
          <a:p>
            <a:pPr>
              <a:spcAft>
                <a:spcPts val="400"/>
              </a:spcAft>
              <a:defRPr sz="1500">
                <a:latin typeface="Calibri"/>
              </a:defRPr>
            </a:pPr>
            <a:r>
              <a:t>  • D_clock — needs UTC (Tier 3+)</a:t>
            </a:r>
          </a:p>
          <a:p>
            <a:pPr>
              <a:spcAft>
                <a:spcPts val="400"/>
              </a:spcAft>
              <a:defRPr sz="1500">
                <a:latin typeface="Calibri"/>
              </a:defRPr>
            </a:pPr>
            <a:r>
              <a:t>  • Doppler — needs only GPSDO (Tier 2)</a:t>
            </a:r>
          </a:p>
          <a:p>
            <a:pPr>
              <a:spcAft>
                <a:spcPts val="400"/>
              </a:spcAft>
              <a:defRPr sz="1500">
                <a:latin typeface="Calibri"/>
              </a:defRPr>
            </a:pPr>
            <a:r>
              <a:t>  • Mean SNR</a:t>
            </a:r>
          </a:p>
        </p:txBody>
      </p:sp>
      <p:graphicFrame>
        <p:nvGraphicFramePr>
          <p:cNvPr id="5" name="Table 4"/>
          <p:cNvGraphicFramePr>
            <a:graphicFrameLocks noGrp="1"/>
          </p:cNvGraphicFramePr>
          <p:nvPr/>
        </p:nvGraphicFramePr>
        <p:xfrm>
          <a:off x="6217920" y="914400"/>
          <a:ext cx="5486400" cy="2286000"/>
        </p:xfrm>
        <a:graphic>
          <a:graphicData uri="http://schemas.openxmlformats.org/drawingml/2006/table">
            <a:tbl>
              <a:tblPr firstRow="1" bandRow="1">
                <a:tableStyleId>{5C22544A-7EE6-4342-B048-85BDC9FD1C3A}</a:tableStyleId>
              </a:tblPr>
              <a:tblGrid>
                <a:gridCol w="1097280"/>
                <a:gridCol w="1097280"/>
                <a:gridCol w="1097280"/>
                <a:gridCol w="1097280"/>
                <a:gridCol w="1097280"/>
              </a:tblGrid>
              <a:tr h="571500">
                <a:tc>
                  <a:txBody>
                    <a:bodyPr/>
                    <a:lstStyle/>
                    <a:p>
                      <a:pPr>
                        <a:defRPr sz="1300" b="1">
                          <a:latin typeface="Calibri"/>
                        </a:defRPr>
                      </a:pPr>
                      <a:r>
                        <a:t>Channel</a:t>
                      </a:r>
                    </a:p>
                  </a:txBody>
                  <a:tcPr/>
                </a:tc>
                <a:tc>
                  <a:txBody>
                    <a:bodyPr/>
                    <a:lstStyle/>
                    <a:p>
                      <a:pPr>
                        <a:defRPr sz="1300" b="1">
                          <a:latin typeface="Calibri"/>
                        </a:defRPr>
                      </a:pPr>
                      <a:r>
                        <a:t>Edges/min</a:t>
                      </a:r>
                    </a:p>
                  </a:txBody>
                  <a:tcPr/>
                </a:tc>
                <a:tc>
                  <a:txBody>
                    <a:bodyPr/>
                    <a:lstStyle/>
                    <a:p>
                      <a:pPr>
                        <a:defRPr sz="1300" b="1">
                          <a:latin typeface="Calibri"/>
                        </a:defRPr>
                      </a:pPr>
                      <a:r>
                        <a:t>SNR (dB)</a:t>
                      </a:r>
                    </a:p>
                  </a:txBody>
                  <a:tcPr/>
                </a:tc>
                <a:tc>
                  <a:txBody>
                    <a:bodyPr/>
                    <a:lstStyle/>
                    <a:p>
                      <a:pPr>
                        <a:defRPr sz="1300" b="1">
                          <a:latin typeface="Calibri"/>
                        </a:defRPr>
                      </a:pPr>
                      <a:r>
                        <a:t>D_clock (ms)</a:t>
                      </a:r>
                    </a:p>
                  </a:txBody>
                  <a:tcPr/>
                </a:tc>
                <a:tc>
                  <a:txBody>
                    <a:bodyPr/>
                    <a:lstStyle/>
                    <a:p>
                      <a:pPr>
                        <a:defRPr sz="1300" b="1">
                          <a:latin typeface="Calibri"/>
                        </a:defRPr>
                      </a:pPr>
                      <a:r>
                        <a:t>Doppler</a:t>
                      </a:r>
                    </a:p>
                  </a:txBody>
                  <a:tcPr/>
                </a:tc>
              </a:tr>
              <a:tr h="571500">
                <a:tc>
                  <a:txBody>
                    <a:bodyPr/>
                    <a:lstStyle/>
                    <a:p>
                      <a:pPr>
                        <a:defRPr sz="1200">
                          <a:latin typeface="Calibri"/>
                        </a:defRPr>
                      </a:pPr>
                      <a:r>
                        <a:t>CHU 7.85</a:t>
                      </a:r>
                    </a:p>
                  </a:txBody>
                  <a:tcPr/>
                </a:tc>
                <a:tc>
                  <a:txBody>
                    <a:bodyPr/>
                    <a:lstStyle/>
                    <a:p>
                      <a:pPr>
                        <a:defRPr sz="1200">
                          <a:latin typeface="Calibri"/>
                        </a:defRPr>
                      </a:pPr>
                      <a:r>
                        <a:t>51</a:t>
                      </a:r>
                    </a:p>
                  </a:txBody>
                  <a:tcPr/>
                </a:tc>
                <a:tc>
                  <a:txBody>
                    <a:bodyPr/>
                    <a:lstStyle/>
                    <a:p>
                      <a:pPr>
                        <a:defRPr sz="1200">
                          <a:latin typeface="Calibri"/>
                        </a:defRPr>
                      </a:pPr>
                      <a:r>
                        <a:t>27.3</a:t>
                      </a:r>
                    </a:p>
                  </a:txBody>
                  <a:tcPr/>
                </a:tc>
                <a:tc>
                  <a:txBody>
                    <a:bodyPr/>
                    <a:lstStyle/>
                    <a:p>
                      <a:pPr>
                        <a:defRPr sz="1200">
                          <a:latin typeface="Calibri"/>
                        </a:defRPr>
                      </a:pPr>
                      <a:r>
                        <a:t>+1.96</a:t>
                      </a:r>
                    </a:p>
                  </a:txBody>
                  <a:tcPr/>
                </a:tc>
                <a:tc>
                  <a:txBody>
                    <a:bodyPr/>
                    <a:lstStyle/>
                    <a:p>
                      <a:pPr>
                        <a:defRPr sz="1200">
                          <a:latin typeface="Calibri"/>
                        </a:defRPr>
                      </a:pPr>
                      <a:r>
                        <a:t>99.8%</a:t>
                      </a:r>
                    </a:p>
                  </a:txBody>
                  <a:tcPr/>
                </a:tc>
              </a:tr>
              <a:tr h="571500">
                <a:tc>
                  <a:txBody>
                    <a:bodyPr/>
                    <a:lstStyle/>
                    <a:p>
                      <a:pPr>
                        <a:defRPr sz="1200">
                          <a:latin typeface="Calibri"/>
                        </a:defRPr>
                      </a:pPr>
                      <a:r>
                        <a:t>SHARED 10.0</a:t>
                      </a:r>
                    </a:p>
                  </a:txBody>
                  <a:tcPr/>
                </a:tc>
                <a:tc>
                  <a:txBody>
                    <a:bodyPr/>
                    <a:lstStyle/>
                    <a:p>
                      <a:pPr>
                        <a:defRPr sz="1200">
                          <a:latin typeface="Calibri"/>
                        </a:defRPr>
                      </a:pPr>
                      <a:r>
                        <a:t>57</a:t>
                      </a:r>
                    </a:p>
                  </a:txBody>
                  <a:tcPr/>
                </a:tc>
                <a:tc>
                  <a:txBody>
                    <a:bodyPr/>
                    <a:lstStyle/>
                    <a:p>
                      <a:pPr>
                        <a:defRPr sz="1200">
                          <a:latin typeface="Calibri"/>
                        </a:defRPr>
                      </a:pPr>
                      <a:r>
                        <a:t>7.9</a:t>
                      </a:r>
                    </a:p>
                  </a:txBody>
                  <a:tcPr/>
                </a:tc>
                <a:tc>
                  <a:txBody>
                    <a:bodyPr/>
                    <a:lstStyle/>
                    <a:p>
                      <a:pPr>
                        <a:defRPr sz="1200">
                          <a:latin typeface="Calibri"/>
                        </a:defRPr>
                      </a:pPr>
                      <a:r>
                        <a:t>−0.02</a:t>
                      </a:r>
                    </a:p>
                  </a:txBody>
                  <a:tcPr/>
                </a:tc>
                <a:tc>
                  <a:txBody>
                    <a:bodyPr/>
                    <a:lstStyle/>
                    <a:p>
                      <a:pPr>
                        <a:defRPr sz="1200">
                          <a:latin typeface="Calibri"/>
                        </a:defRPr>
                      </a:pPr>
                      <a:r>
                        <a:t>99.7%</a:t>
                      </a:r>
                    </a:p>
                  </a:txBody>
                  <a:tcPr/>
                </a:tc>
              </a:tr>
              <a:tr h="571500">
                <a:tc>
                  <a:txBody>
                    <a:bodyPr/>
                    <a:lstStyle/>
                    <a:p>
                      <a:pPr>
                        <a:defRPr sz="1200">
                          <a:latin typeface="Calibri"/>
                        </a:defRPr>
                      </a:pPr>
                      <a:r>
                        <a:t>WWV 20.0</a:t>
                      </a:r>
                    </a:p>
                  </a:txBody>
                  <a:tcPr/>
                </a:tc>
                <a:tc>
                  <a:txBody>
                    <a:bodyPr/>
                    <a:lstStyle/>
                    <a:p>
                      <a:pPr>
                        <a:defRPr sz="1200">
                          <a:latin typeface="Calibri"/>
                        </a:defRPr>
                      </a:pPr>
                      <a:r>
                        <a:t>57</a:t>
                      </a:r>
                    </a:p>
                  </a:txBody>
                  <a:tcPr/>
                </a:tc>
                <a:tc>
                  <a:txBody>
                    <a:bodyPr/>
                    <a:lstStyle/>
                    <a:p>
                      <a:pPr>
                        <a:defRPr sz="1200">
                          <a:latin typeface="Calibri"/>
                        </a:defRPr>
                      </a:pPr>
                      <a:r>
                        <a:t>7.9</a:t>
                      </a:r>
                    </a:p>
                  </a:txBody>
                  <a:tcPr/>
                </a:tc>
                <a:tc>
                  <a:txBody>
                    <a:bodyPr/>
                    <a:lstStyle/>
                    <a:p>
                      <a:pPr>
                        <a:defRPr sz="1200">
                          <a:latin typeface="Calibri"/>
                        </a:defRPr>
                      </a:pPr>
                      <a:r>
                        <a:t>−0.05</a:t>
                      </a:r>
                    </a:p>
                  </a:txBody>
                  <a:tcPr/>
                </a:tc>
                <a:tc>
                  <a:txBody>
                    <a:bodyPr/>
                    <a:lstStyle/>
                    <a:p>
                      <a:pPr>
                        <a:defRPr sz="1200">
                          <a:latin typeface="Calibri"/>
                        </a:defRPr>
                      </a:pPr>
                      <a:r>
                        <a:t>99.9%</a:t>
                      </a:r>
                    </a:p>
                  </a:txBody>
                  <a:tcPr/>
                </a:tc>
              </a:tr>
            </a:tbl>
          </a:graphicData>
        </a:graphic>
      </p:graphicFrame>
      <p:sp>
        <p:nvSpPr>
          <p:cNvPr id="6" name="TextBox 5"/>
          <p:cNvSpPr txBox="1"/>
          <p:nvPr/>
        </p:nvSpPr>
        <p:spPr>
          <a:xfrm>
            <a:off x="6217920" y="3474720"/>
            <a:ext cx="5486400" cy="1371600"/>
          </a:xfrm>
          <a:prstGeom prst="rect">
            <a:avLst/>
          </a:prstGeom>
          <a:noFill/>
        </p:spPr>
        <p:txBody>
          <a:bodyPr wrap="square">
            <a:spAutoFit/>
          </a:bodyPr>
          <a:lstStyle/>
          <a:p>
            <a:pPr algn="l">
              <a:defRPr sz="1400" b="0">
                <a:solidFill>
                  <a:srgbClr val="444444"/>
                </a:solidFill>
                <a:latin typeface="Calibri"/>
              </a:defRPr>
            </a:pPr>
            <a:r>
              <a:t>~24K tick timing records/day</a:t>
            </a:r>
            <a:br/>
            <a:r>
              <a:t>~850K per-tick phase records/day</a:t>
            </a:r>
            <a:br/>
            <a:r>
              <a:t>9 channels, 24/7</a:t>
            </a:r>
          </a:p>
        </p:txBody>
      </p:sp>
      <p:pic>
        <p:nvPicPr>
          <p:cNvPr id="7" name="Picture 6" descr="fig8_detection_summary.png"/>
          <p:cNvPicPr>
            <a:picLocks noChangeAspect="1"/>
          </p:cNvPicPr>
          <p:nvPr/>
        </p:nvPicPr>
        <p:blipFill>
          <a:blip r:embed="rId2"/>
          <a:stretch>
            <a:fillRect/>
          </a:stretch>
        </p:blipFill>
        <p:spPr>
          <a:xfrm>
            <a:off x="6217920" y="4114800"/>
            <a:ext cx="5486400" cy="228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UTC Recovery — Dual Kalman Fusion</a:t>
            </a:r>
          </a:p>
        </p:txBody>
      </p:sp>
      <p:sp>
        <p:nvSpPr>
          <p:cNvPr id="3" name="Content Placeholder 2"/>
          <p:cNvSpPr>
            <a:spLocks noGrp="1"/>
          </p:cNvSpPr>
          <p:nvPr>
            <p:ph idx="1"/>
          </p:nvPr>
        </p:nvSpPr>
        <p:spPr/>
        <p:txBody>
          <a:bodyPr/>
          <a:lstStyle/>
          <a:p/>
        </p:txBody>
      </p:sp>
      <p:pic>
        <p:nvPicPr>
          <p:cNvPr id="4" name="Picture 3" descr="fig1_metrological_ladder.png"/>
          <p:cNvPicPr>
            <a:picLocks noChangeAspect="1"/>
          </p:cNvPicPr>
          <p:nvPr/>
        </p:nvPicPr>
        <p:blipFill>
          <a:blip r:embed="rId2"/>
          <a:stretch>
            <a:fillRect/>
          </a:stretch>
        </p:blipFill>
        <p:spPr>
          <a:xfrm>
            <a:off x="274320" y="822960"/>
            <a:ext cx="5669280" cy="4114800"/>
          </a:xfrm>
          <a:prstGeom prst="rect">
            <a:avLst/>
          </a:prstGeom>
        </p:spPr>
      </p:pic>
      <p:sp>
        <p:nvSpPr>
          <p:cNvPr id="5" name="TextBox 4"/>
          <p:cNvSpPr txBox="1"/>
          <p:nvPr/>
        </p:nvSpPr>
        <p:spPr>
          <a:xfrm>
            <a:off x="6217920" y="822960"/>
            <a:ext cx="5486400" cy="457200"/>
          </a:xfrm>
          <a:prstGeom prst="rect">
            <a:avLst/>
          </a:prstGeom>
          <a:noFill/>
        </p:spPr>
        <p:txBody>
          <a:bodyPr wrap="square">
            <a:spAutoFit/>
          </a:bodyPr>
          <a:lstStyle/>
          <a:p>
            <a:pPr algn="l">
              <a:defRPr sz="1800" b="1">
                <a:solidFill>
                  <a:srgbClr val="1565C0"/>
                </a:solidFill>
                <a:latin typeface="Calibri"/>
              </a:defRPr>
            </a:pPr>
            <a:r>
              <a:t>The time signals tell us what time it is.</a:t>
            </a:r>
          </a:p>
        </p:txBody>
      </p:sp>
      <p:graphicFrame>
        <p:nvGraphicFramePr>
          <p:cNvPr id="6" name="Table 5"/>
          <p:cNvGraphicFramePr>
            <a:graphicFrameLocks noGrp="1"/>
          </p:cNvGraphicFramePr>
          <p:nvPr/>
        </p:nvGraphicFramePr>
        <p:xfrm>
          <a:off x="6217920" y="1463040"/>
          <a:ext cx="5303520" cy="2011680"/>
        </p:xfrm>
        <a:graphic>
          <a:graphicData uri="http://schemas.openxmlformats.org/drawingml/2006/table">
            <a:tbl>
              <a:tblPr firstRow="1" bandRow="1">
                <a:tableStyleId>{5C22544A-7EE6-4342-B048-85BDC9FD1C3A}</a:tableStyleId>
              </a:tblPr>
              <a:tblGrid>
                <a:gridCol w="1767840"/>
                <a:gridCol w="1767840"/>
                <a:gridCol w="1767840"/>
              </a:tblGrid>
              <a:tr h="402336">
                <a:tc>
                  <a:txBody>
                    <a:bodyPr/>
                    <a:lstStyle/>
                    <a:p>
                      <a:pPr>
                        <a:defRPr sz="1300" b="1">
                          <a:latin typeface="Calibri"/>
                        </a:defRPr>
                      </a:pPr>
                      <a:r>
                        <a:t>Source</a:t>
                      </a:r>
                    </a:p>
                  </a:txBody>
                  <a:tcPr/>
                </a:tc>
                <a:tc>
                  <a:txBody>
                    <a:bodyPr/>
                    <a:lstStyle/>
                    <a:p>
                      <a:pPr>
                        <a:defRPr sz="1300" b="1">
                          <a:latin typeface="Calibri"/>
                        </a:defRPr>
                      </a:pPr>
                      <a:r>
                        <a:t>Offset vs GPS</a:t>
                      </a:r>
                    </a:p>
                  </a:txBody>
                  <a:tcPr/>
                </a:tc>
                <a:tc>
                  <a:txBody>
                    <a:bodyPr/>
                    <a:lstStyle/>
                    <a:p>
                      <a:pPr>
                        <a:defRPr sz="1300" b="1">
                          <a:latin typeface="Calibri"/>
                        </a:defRPr>
                      </a:pPr>
                      <a:r>
                        <a:t>Bound (±)</a:t>
                      </a:r>
                    </a:p>
                  </a:txBody>
                  <a:tcPr/>
                </a:tc>
              </a:tr>
              <a:tr h="402336">
                <a:tc>
                  <a:txBody>
                    <a:bodyPr/>
                    <a:lstStyle/>
                    <a:p>
                      <a:pPr>
                        <a:defRPr sz="1200">
                          <a:latin typeface="Calibri"/>
                        </a:defRPr>
                      </a:pPr>
                      <a:r>
                        <a:t>Internet NTP</a:t>
                      </a:r>
                    </a:p>
                  </a:txBody>
                  <a:tcPr/>
                </a:tc>
                <a:tc>
                  <a:txBody>
                    <a:bodyPr/>
                    <a:lstStyle/>
                    <a:p>
                      <a:pPr>
                        <a:defRPr sz="1200">
                          <a:latin typeface="Calibri"/>
                        </a:defRPr>
                      </a:pPr>
                      <a:r>
                        <a:t>−6.0 ms</a:t>
                      </a:r>
                    </a:p>
                  </a:txBody>
                  <a:tcPr/>
                </a:tc>
                <a:tc>
                  <a:txBody>
                    <a:bodyPr/>
                    <a:lstStyle/>
                    <a:p>
                      <a:pPr>
                        <a:defRPr sz="1200">
                          <a:latin typeface="Calibri"/>
                        </a:defRPr>
                      </a:pPr>
                      <a:r>
                        <a:t>±19 ms</a:t>
                      </a:r>
                    </a:p>
                  </a:txBody>
                  <a:tcPr/>
                </a:tc>
              </a:tr>
              <a:tr h="402336">
                <a:tc>
                  <a:txBody>
                    <a:bodyPr/>
                    <a:lstStyle/>
                    <a:p>
                      <a:pPr>
                        <a:defRPr sz="1200">
                          <a:latin typeface="Calibri"/>
                        </a:defRPr>
                      </a:pPr>
                      <a:r>
                        <a:t>HF TSL1 (geometric)</a:t>
                      </a:r>
                    </a:p>
                  </a:txBody>
                  <a:tcPr/>
                </a:tc>
                <a:tc>
                  <a:txBody>
                    <a:bodyPr/>
                    <a:lstStyle/>
                    <a:p>
                      <a:pPr>
                        <a:defRPr sz="1200">
                          <a:latin typeface="Calibri"/>
                        </a:defRPr>
                      </a:pPr>
                      <a:r>
                        <a:t>+1.1 ms</a:t>
                      </a:r>
                    </a:p>
                  </a:txBody>
                  <a:tcPr/>
                </a:tc>
                <a:tc>
                  <a:txBody>
                    <a:bodyPr/>
                    <a:lstStyle/>
                    <a:p>
                      <a:pPr>
                        <a:defRPr sz="1200">
                          <a:latin typeface="Calibri"/>
                        </a:defRPr>
                      </a:pPr>
                      <a:r>
                        <a:t>±2.0 ms</a:t>
                      </a:r>
                    </a:p>
                  </a:txBody>
                  <a:tcPr/>
                </a:tc>
              </a:tr>
              <a:tr h="402336">
                <a:tc>
                  <a:txBody>
                    <a:bodyPr/>
                    <a:lstStyle/>
                    <a:p>
                      <a:pPr>
                        <a:defRPr sz="1200">
                          <a:latin typeface="Calibri"/>
                        </a:defRPr>
                      </a:pPr>
                      <a:r>
                        <a:t>HF TSL2 (ionospheric)</a:t>
                      </a:r>
                    </a:p>
                  </a:txBody>
                  <a:tcPr/>
                </a:tc>
                <a:tc>
                  <a:txBody>
                    <a:bodyPr/>
                    <a:lstStyle/>
                    <a:p>
                      <a:pPr>
                        <a:defRPr sz="1200">
                          <a:latin typeface="Calibri"/>
                        </a:defRPr>
                      </a:pPr>
                      <a:r>
                        <a:t>+0.8 ms</a:t>
                      </a:r>
                    </a:p>
                  </a:txBody>
                  <a:tcPr/>
                </a:tc>
                <a:tc>
                  <a:txBody>
                    <a:bodyPr/>
                    <a:lstStyle/>
                    <a:p>
                      <a:pPr>
                        <a:defRPr sz="1200">
                          <a:latin typeface="Calibri"/>
                        </a:defRPr>
                      </a:pPr>
                      <a:r>
                        <a:t>±0.6 ms</a:t>
                      </a:r>
                    </a:p>
                  </a:txBody>
                  <a:tcPr/>
                </a:tc>
              </a:tr>
              <a:tr h="402336">
                <a:tc>
                  <a:txBody>
                    <a:bodyPr/>
                    <a:lstStyle/>
                    <a:p>
                      <a:pPr>
                        <a:defRPr sz="1200">
                          <a:latin typeface="Calibri"/>
                        </a:defRPr>
                      </a:pPr>
                      <a:r>
                        <a:t>GPS+PPS (ground truth)</a:t>
                      </a:r>
                    </a:p>
                  </a:txBody>
                  <a:tcPr/>
                </a:tc>
                <a:tc>
                  <a:txBody>
                    <a:bodyPr/>
                    <a:lstStyle/>
                    <a:p>
                      <a:pPr>
                        <a:defRPr sz="1200">
                          <a:latin typeface="Calibri"/>
                        </a:defRPr>
                      </a:pPr>
                      <a:r>
                        <a:t>−0.001 ms</a:t>
                      </a:r>
                    </a:p>
                  </a:txBody>
                  <a:tcPr/>
                </a:tc>
                <a:tc>
                  <a:txBody>
                    <a:bodyPr/>
                    <a:lstStyle/>
                    <a:p>
                      <a:pPr>
                        <a:defRPr sz="1200">
                          <a:latin typeface="Calibri"/>
                        </a:defRPr>
                      </a:pPr>
                      <a:r>
                        <a:t>±0.094 ms</a:t>
                      </a:r>
                    </a:p>
                  </a:txBody>
                  <a:tcPr/>
                </a:tc>
              </a:tr>
            </a:tbl>
          </a:graphicData>
        </a:graphic>
      </p:graphicFrame>
      <p:sp>
        <p:nvSpPr>
          <p:cNvPr id="7" name="TextBox 6"/>
          <p:cNvSpPr txBox="1"/>
          <p:nvPr/>
        </p:nvSpPr>
        <p:spPr>
          <a:xfrm>
            <a:off x="6217920" y="3749039"/>
            <a:ext cx="5303520" cy="2743200"/>
          </a:xfrm>
          <a:prstGeom prst="rect">
            <a:avLst/>
          </a:prstGeom>
          <a:noFill/>
        </p:spPr>
        <p:txBody>
          <a:bodyPr wrap="square">
            <a:spAutoFit/>
          </a:bodyPr>
          <a:lstStyle/>
          <a:p>
            <a:pPr>
              <a:spcAft>
                <a:spcPts val="400"/>
              </a:spcAft>
              <a:defRPr sz="1500">
                <a:solidFill>
                  <a:srgbClr val="1B5E20"/>
                </a:solidFill>
                <a:latin typeface="Calibri"/>
              </a:defRPr>
            </a:pPr>
            <a:r>
              <a:t>HF timing is 100× better than internet NTP</a:t>
            </a:r>
          </a:p>
          <a:p>
            <a:pPr>
              <a:spcAft>
                <a:spcPts val="400"/>
              </a:spcAft>
              <a:defRPr sz="1500">
                <a:solidFill>
                  <a:srgbClr val="1B5E20"/>
                </a:solidFill>
                <a:latin typeface="Calibri"/>
              </a:defRPr>
            </a:pPr>
            <a:r>
              <a:t>L2 has 3.3× tighter bound than L1</a:t>
            </a:r>
          </a:p>
          <a:p>
            <a:pPr>
              <a:spcAft>
                <a:spcPts val="400"/>
              </a:spcAft>
              <a:defRPr sz="1500">
                <a:solidFill>
                  <a:srgbClr val="1B5E20"/>
                </a:solidFill>
                <a:latin typeface="Calibri"/>
              </a:defRPr>
            </a:pPr>
            <a:r>
              <a:t>Fusion D_clock: median −1.2 ms, 86% within ±5 ms</a:t>
            </a:r>
          </a:p>
          <a:p>
            <a:pPr>
              <a:spcAft>
                <a:spcPts val="400"/>
              </a:spcAft>
              <a:defRPr sz="1500">
                <a:solidFill>
                  <a:srgbClr val="1B5E20"/>
                </a:solidFill>
                <a:latin typeface="Calibri"/>
              </a:defRPr>
            </a:pPr>
            <a:r>
              <a:t>A Tier 2 station bootstraps itself to Tier 3</a:t>
            </a:r>
          </a:p>
        </p:txBody>
      </p:sp>
      <p:pic>
        <p:nvPicPr>
          <p:cNvPr id="8" name="Picture 7" descr="fig3_fusion_dclock_histogram.png"/>
          <p:cNvPicPr>
            <a:picLocks noChangeAspect="1"/>
          </p:cNvPicPr>
          <p:nvPr/>
        </p:nvPicPr>
        <p:blipFill>
          <a:blip r:embed="rId3"/>
          <a:stretch>
            <a:fillRect/>
          </a:stretch>
        </p:blipFill>
        <p:spPr>
          <a:xfrm>
            <a:off x="274320" y="5029200"/>
            <a:ext cx="5669280" cy="1645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Shared-Channel Discrimination</a:t>
            </a:r>
          </a:p>
        </p:txBody>
      </p:sp>
      <p:sp>
        <p:nvSpPr>
          <p:cNvPr id="3" name="Content Placeholder 2"/>
          <p:cNvSpPr>
            <a:spLocks noGrp="1"/>
          </p:cNvSpPr>
          <p:nvPr>
            <p:ph idx="1"/>
          </p:nvPr>
        </p:nvSpPr>
        <p:spPr/>
        <p:txBody>
          <a:bodyPr/>
          <a:lstStyle/>
          <a:p/>
        </p:txBody>
      </p:sp>
      <p:sp>
        <p:nvSpPr>
          <p:cNvPr id="4" name="TextBox 3"/>
          <p:cNvSpPr txBox="1"/>
          <p:nvPr/>
        </p:nvSpPr>
        <p:spPr>
          <a:xfrm>
            <a:off x="365760" y="822960"/>
            <a:ext cx="5486400" cy="457200"/>
          </a:xfrm>
          <a:prstGeom prst="rect">
            <a:avLst/>
          </a:prstGeom>
          <a:noFill/>
        </p:spPr>
        <p:txBody>
          <a:bodyPr wrap="square">
            <a:spAutoFit/>
          </a:bodyPr>
          <a:lstStyle/>
          <a:p>
            <a:pPr algn="l">
              <a:defRPr sz="1600" b="1">
                <a:solidFill>
                  <a:srgbClr val="1565C0"/>
                </a:solidFill>
                <a:latin typeface="Calibri"/>
              </a:defRPr>
            </a:pPr>
            <a:r>
              <a:t>Three stations on one frequency — physics tells them apart</a:t>
            </a:r>
          </a:p>
        </p:txBody>
      </p:sp>
      <p:sp>
        <p:nvSpPr>
          <p:cNvPr id="5" name="TextBox 4"/>
          <p:cNvSpPr txBox="1"/>
          <p:nvPr/>
        </p:nvSpPr>
        <p:spPr>
          <a:xfrm>
            <a:off x="365760" y="1371600"/>
            <a:ext cx="5303520" cy="2286000"/>
          </a:xfrm>
          <a:prstGeom prst="rect">
            <a:avLst/>
          </a:prstGeom>
          <a:noFill/>
        </p:spPr>
        <p:txBody>
          <a:bodyPr wrap="square">
            <a:spAutoFit/>
          </a:bodyPr>
          <a:lstStyle/>
          <a:p>
            <a:pPr>
              <a:spcAft>
                <a:spcPts val="400"/>
              </a:spcAft>
              <a:defRPr sz="1400">
                <a:latin typeface="Calibri"/>
              </a:defRPr>
            </a:pPr>
            <a:r>
              <a:t>Tick frequency: 1000 Hz (WWV/BPM) vs 1200 Hz (WWVH)</a:t>
            </a:r>
          </a:p>
          <a:p>
            <a:pPr>
              <a:spcAft>
                <a:spcPts val="400"/>
              </a:spcAft>
              <a:defRPr sz="1400">
                <a:latin typeface="Calibri"/>
              </a:defRPr>
            </a:pPr>
            <a:r>
              <a:t>Tick duration: 5 ms (WWV/WWVH) vs 10 ms (BPM)</a:t>
            </a:r>
          </a:p>
          <a:p>
            <a:pPr>
              <a:spcAft>
                <a:spcPts val="400"/>
              </a:spcAft>
              <a:defRPr sz="1400">
                <a:latin typeface="Calibri"/>
              </a:defRPr>
            </a:pPr>
            <a:r>
              <a:t>NIST tone schedule: ground truth 14 min/hr</a:t>
            </a:r>
          </a:p>
          <a:p>
            <a:pPr>
              <a:spcAft>
                <a:spcPts val="400"/>
              </a:spcAft>
              <a:defRPr sz="1400">
                <a:latin typeface="Calibri"/>
              </a:defRPr>
            </a:pPr>
            <a:r>
              <a:t>D_clock ordering: WWV &lt; WWVH &lt; BPM</a:t>
            </a:r>
          </a:p>
        </p:txBody>
      </p:sp>
      <p:graphicFrame>
        <p:nvGraphicFramePr>
          <p:cNvPr id="6" name="Table 5"/>
          <p:cNvGraphicFramePr>
            <a:graphicFrameLocks noGrp="1"/>
          </p:cNvGraphicFramePr>
          <p:nvPr/>
        </p:nvGraphicFramePr>
        <p:xfrm>
          <a:off x="365760" y="3474720"/>
          <a:ext cx="5303520" cy="1828800"/>
        </p:xfrm>
        <a:graphic>
          <a:graphicData uri="http://schemas.openxmlformats.org/drawingml/2006/table">
            <a:tbl>
              <a:tblPr firstRow="1" bandRow="1">
                <a:tableStyleId>{5C22544A-7EE6-4342-B048-85BDC9FD1C3A}</a:tableStyleId>
              </a:tblPr>
              <a:tblGrid>
                <a:gridCol w="1325880"/>
                <a:gridCol w="1325880"/>
                <a:gridCol w="1325880"/>
                <a:gridCol w="1325880"/>
              </a:tblGrid>
              <a:tr h="457200">
                <a:tc>
                  <a:txBody>
                    <a:bodyPr/>
                    <a:lstStyle/>
                    <a:p>
                      <a:pPr>
                        <a:defRPr sz="1300" b="1">
                          <a:latin typeface="Calibri"/>
                        </a:defRPr>
                      </a:pPr>
                      <a:r>
                        <a:t>Station</a:t>
                      </a:r>
                    </a:p>
                  </a:txBody>
                  <a:tcPr/>
                </a:tc>
                <a:tc>
                  <a:txBody>
                    <a:bodyPr/>
                    <a:lstStyle/>
                    <a:p>
                      <a:pPr>
                        <a:defRPr sz="1300" b="1">
                          <a:latin typeface="Calibri"/>
                        </a:defRPr>
                      </a:pPr>
                      <a:r>
                        <a:t>Records/day</a:t>
                      </a:r>
                    </a:p>
                  </a:txBody>
                  <a:tcPr/>
                </a:tc>
                <a:tc>
                  <a:txBody>
                    <a:bodyPr/>
                    <a:lstStyle/>
                    <a:p>
                      <a:pPr>
                        <a:defRPr sz="1300" b="1">
                          <a:latin typeface="Calibri"/>
                        </a:defRPr>
                      </a:pPr>
                      <a:r>
                        <a:t>Median D_clock</a:t>
                      </a:r>
                    </a:p>
                  </a:txBody>
                  <a:tcPr/>
                </a:tc>
                <a:tc>
                  <a:txBody>
                    <a:bodyPr/>
                    <a:lstStyle/>
                    <a:p>
                      <a:pPr>
                        <a:defRPr sz="1300" b="1">
                          <a:latin typeface="Calibri"/>
                        </a:defRPr>
                      </a:pPr>
                      <a:r>
                        <a:t>Median SNR</a:t>
                      </a:r>
                    </a:p>
                  </a:txBody>
                  <a:tcPr/>
                </a:tc>
              </a:tr>
              <a:tr h="457200">
                <a:tc>
                  <a:txBody>
                    <a:bodyPr/>
                    <a:lstStyle/>
                    <a:p>
                      <a:pPr>
                        <a:defRPr sz="1200">
                          <a:latin typeface="Calibri"/>
                        </a:defRPr>
                      </a:pPr>
                      <a:r>
                        <a:t>WWV</a:t>
                      </a:r>
                    </a:p>
                  </a:txBody>
                  <a:tcPr/>
                </a:tc>
                <a:tc>
                  <a:txBody>
                    <a:bodyPr/>
                    <a:lstStyle/>
                    <a:p>
                      <a:pPr>
                        <a:defRPr sz="1200">
                          <a:latin typeface="Calibri"/>
                        </a:defRPr>
                      </a:pPr>
                      <a:r>
                        <a:t>1,380</a:t>
                      </a:r>
                    </a:p>
                  </a:txBody>
                  <a:tcPr/>
                </a:tc>
                <a:tc>
                  <a:txBody>
                    <a:bodyPr/>
                    <a:lstStyle/>
                    <a:p>
                      <a:pPr>
                        <a:defRPr sz="1200">
                          <a:latin typeface="Calibri"/>
                        </a:defRPr>
                      </a:pPr>
                      <a:r>
                        <a:t>−1.12 ms</a:t>
                      </a:r>
                    </a:p>
                  </a:txBody>
                  <a:tcPr/>
                </a:tc>
                <a:tc>
                  <a:txBody>
                    <a:bodyPr/>
                    <a:lstStyle/>
                    <a:p>
                      <a:pPr>
                        <a:defRPr sz="1200">
                          <a:latin typeface="Calibri"/>
                        </a:defRPr>
                      </a:pPr>
                      <a:r>
                        <a:t>26.2 dB</a:t>
                      </a:r>
                    </a:p>
                  </a:txBody>
                  <a:tcPr/>
                </a:tc>
              </a:tr>
              <a:tr h="457200">
                <a:tc>
                  <a:txBody>
                    <a:bodyPr/>
                    <a:lstStyle/>
                    <a:p>
                      <a:pPr>
                        <a:defRPr sz="1200">
                          <a:latin typeface="Calibri"/>
                        </a:defRPr>
                      </a:pPr>
                      <a:r>
                        <a:t>WWVH</a:t>
                      </a:r>
                    </a:p>
                  </a:txBody>
                  <a:tcPr/>
                </a:tc>
                <a:tc>
                  <a:txBody>
                    <a:bodyPr/>
                    <a:lstStyle/>
                    <a:p>
                      <a:pPr>
                        <a:defRPr sz="1200">
                          <a:latin typeface="Calibri"/>
                        </a:defRPr>
                      </a:pPr>
                      <a:r>
                        <a:t>1,379</a:t>
                      </a:r>
                    </a:p>
                  </a:txBody>
                  <a:tcPr/>
                </a:tc>
                <a:tc>
                  <a:txBody>
                    <a:bodyPr/>
                    <a:lstStyle/>
                    <a:p>
                      <a:pPr>
                        <a:defRPr sz="1200">
                          <a:latin typeface="Calibri"/>
                        </a:defRPr>
                      </a:pPr>
                      <a:r>
                        <a:t>−0.08 ms</a:t>
                      </a:r>
                    </a:p>
                  </a:txBody>
                  <a:tcPr/>
                </a:tc>
                <a:tc>
                  <a:txBody>
                    <a:bodyPr/>
                    <a:lstStyle/>
                    <a:p>
                      <a:pPr>
                        <a:defRPr sz="1200">
                          <a:latin typeface="Calibri"/>
                        </a:defRPr>
                      </a:pPr>
                      <a:r>
                        <a:t>17.8 dB</a:t>
                      </a:r>
                    </a:p>
                  </a:txBody>
                  <a:tcPr/>
                </a:tc>
              </a:tr>
              <a:tr h="457200">
                <a:tc>
                  <a:txBody>
                    <a:bodyPr/>
                    <a:lstStyle/>
                    <a:p>
                      <a:pPr>
                        <a:defRPr sz="1200">
                          <a:latin typeface="Calibri"/>
                        </a:defRPr>
                      </a:pPr>
                      <a:r>
                        <a:t>BPM</a:t>
                      </a:r>
                    </a:p>
                  </a:txBody>
                  <a:tcPr/>
                </a:tc>
                <a:tc>
                  <a:txBody>
                    <a:bodyPr/>
                    <a:lstStyle/>
                    <a:p>
                      <a:pPr>
                        <a:defRPr sz="1200">
                          <a:latin typeface="Calibri"/>
                        </a:defRPr>
                      </a:pPr>
                      <a:r>
                        <a:t>1,380</a:t>
                      </a:r>
                    </a:p>
                  </a:txBody>
                  <a:tcPr/>
                </a:tc>
                <a:tc>
                  <a:txBody>
                    <a:bodyPr/>
                    <a:lstStyle/>
                    <a:p>
                      <a:pPr>
                        <a:defRPr sz="1200">
                          <a:latin typeface="Calibri"/>
                        </a:defRPr>
                      </a:pPr>
                      <a:r>
                        <a:t>+1.48 ms</a:t>
                      </a:r>
                    </a:p>
                  </a:txBody>
                  <a:tcPr/>
                </a:tc>
                <a:tc>
                  <a:txBody>
                    <a:bodyPr/>
                    <a:lstStyle/>
                    <a:p>
                      <a:pPr>
                        <a:defRPr sz="1200">
                          <a:latin typeface="Calibri"/>
                        </a:defRPr>
                      </a:pPr>
                      <a:r>
                        <a:t>21.1 dB</a:t>
                      </a:r>
                    </a:p>
                  </a:txBody>
                  <a:tcPr/>
                </a:tc>
              </a:tr>
            </a:tbl>
          </a:graphicData>
        </a:graphic>
      </p:graphicFrame>
      <p:sp>
        <p:nvSpPr>
          <p:cNvPr id="7" name="TextBox 6"/>
          <p:cNvSpPr txBox="1"/>
          <p:nvPr/>
        </p:nvSpPr>
        <p:spPr>
          <a:xfrm>
            <a:off x="365760" y="5394960"/>
            <a:ext cx="5303520" cy="914400"/>
          </a:xfrm>
          <a:prstGeom prst="rect">
            <a:avLst/>
          </a:prstGeom>
          <a:noFill/>
        </p:spPr>
        <p:txBody>
          <a:bodyPr wrap="square">
            <a:spAutoFit/>
          </a:bodyPr>
          <a:lstStyle/>
          <a:p>
            <a:pPr algn="l">
              <a:defRPr sz="1300" b="0">
                <a:solidFill>
                  <a:srgbClr val="444444"/>
                </a:solidFill>
                <a:latin typeface="Calibri"/>
              </a:defRPr>
            </a:pPr>
            <a:r>
              <a:t>Cross-station Doppler: r ≈ 0 (independent paths)</a:t>
            </a:r>
            <a:br/>
            <a:r>
              <a:t>Same-station cross-freq: r = 0.43 (shared path)</a:t>
            </a:r>
          </a:p>
        </p:txBody>
      </p:sp>
      <p:pic>
        <p:nvPicPr>
          <p:cNvPr id="8" name="Picture 7" descr="fig9_shared_channel_discrimination.png"/>
          <p:cNvPicPr>
            <a:picLocks noChangeAspect="1"/>
          </p:cNvPicPr>
          <p:nvPr/>
        </p:nvPicPr>
        <p:blipFill>
          <a:blip r:embed="rId2"/>
          <a:stretch>
            <a:fillRect/>
          </a:stretch>
        </p:blipFill>
        <p:spPr>
          <a:xfrm>
            <a:off x="5943600" y="822960"/>
            <a:ext cx="594360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Carrier-Phase dTEC — The Primary Science Product</a:t>
            </a:r>
          </a:p>
        </p:txBody>
      </p:sp>
      <p:sp>
        <p:nvSpPr>
          <p:cNvPr id="3" name="Content Placeholder 2"/>
          <p:cNvSpPr>
            <a:spLocks noGrp="1"/>
          </p:cNvSpPr>
          <p:nvPr>
            <p:ph idx="1"/>
          </p:nvPr>
        </p:nvSpPr>
        <p:spPr/>
        <p:txBody>
          <a:bodyPr/>
          <a:lstStyle/>
          <a:p/>
        </p:txBody>
      </p:sp>
      <p:sp>
        <p:nvSpPr>
          <p:cNvPr id="4" name="TextBox 3"/>
          <p:cNvSpPr txBox="1"/>
          <p:nvPr/>
        </p:nvSpPr>
        <p:spPr>
          <a:xfrm>
            <a:off x="365760" y="822960"/>
            <a:ext cx="5486400" cy="457200"/>
          </a:xfrm>
          <a:prstGeom prst="rect">
            <a:avLst/>
          </a:prstGeom>
          <a:noFill/>
        </p:spPr>
        <p:txBody>
          <a:bodyPr wrap="square">
            <a:spAutoFit/>
          </a:bodyPr>
          <a:lstStyle/>
          <a:p>
            <a:pPr algn="l">
              <a:defRPr sz="1600" b="1">
                <a:solidFill>
                  <a:srgbClr val="1B5E20"/>
                </a:solidFill>
                <a:latin typeface="Calibri"/>
              </a:defRPr>
            </a:pPr>
            <a:r>
              <a:t>Bypassing the propagation model noise floor</a:t>
            </a:r>
          </a:p>
        </p:txBody>
      </p:sp>
      <p:sp>
        <p:nvSpPr>
          <p:cNvPr id="5" name="TextBox 4"/>
          <p:cNvSpPr txBox="1"/>
          <p:nvPr/>
        </p:nvSpPr>
        <p:spPr>
          <a:xfrm>
            <a:off x="365760" y="1371600"/>
            <a:ext cx="5486400" cy="2743200"/>
          </a:xfrm>
          <a:prstGeom prst="rect">
            <a:avLst/>
          </a:prstGeom>
          <a:noFill/>
        </p:spPr>
        <p:txBody>
          <a:bodyPr wrap="square">
            <a:spAutoFit/>
          </a:bodyPr>
          <a:lstStyle/>
          <a:p>
            <a:pPr>
              <a:spcAft>
                <a:spcPts val="400"/>
              </a:spcAft>
              <a:defRPr sz="1500">
                <a:latin typeface="Calibri"/>
              </a:defRPr>
            </a:pPr>
            <a:r>
              <a:t>Group-delay TEC: signal 0.85 ms, noise 6.5 ms → SNR 0.13 (buried)</a:t>
            </a:r>
          </a:p>
          <a:p>
            <a:pPr>
              <a:spcAft>
                <a:spcPts val="400"/>
              </a:spcAft>
              <a:defRPr sz="1500">
                <a:latin typeface="Calibri"/>
              </a:defRPr>
            </a:pPr>
            <a:r>
              <a:t>Carrier-phase dTEC: ~6 mTECU/min sensitivity → SNR 17–330×</a:t>
            </a:r>
          </a:p>
          <a:p>
            <a:pPr>
              <a:spcAft>
                <a:spcPts val="400"/>
              </a:spcAft>
              <a:defRPr sz="1500">
                <a:latin typeface="Calibri"/>
              </a:defRPr>
            </a:pPr>
            <a:r>
              <a:t>dTEC/dt = −f_D × c × f / 40.3</a:t>
            </a:r>
          </a:p>
          <a:p>
            <a:pPr>
              <a:spcAft>
                <a:spcPts val="400"/>
              </a:spcAft>
              <a:defRPr sz="1500">
                <a:latin typeface="Calibri"/>
              </a:defRPr>
            </a:pPr>
          </a:p>
          <a:p>
            <a:pPr>
              <a:spcAft>
                <a:spcPts val="400"/>
              </a:spcAft>
              <a:defRPr sz="1500">
                <a:latin typeface="Calibri"/>
              </a:defRPr>
            </a:pPr>
            <a:r>
              <a:t>This is a Tier 2 product — needs only the GPSDO</a:t>
            </a:r>
          </a:p>
          <a:p>
            <a:pPr>
              <a:spcAft>
                <a:spcPts val="400"/>
              </a:spcAft>
              <a:defRPr sz="1500">
                <a:latin typeface="Calibri"/>
              </a:defRPr>
            </a:pPr>
          </a:p>
          <a:p>
            <a:pPr>
              <a:spcAft>
                <a:spcPts val="400"/>
              </a:spcAft>
              <a:defRPr sz="1500">
                <a:latin typeface="Calibri"/>
              </a:defRPr>
            </a:pPr>
            <a:r>
              <a:t>17,045 dTEC records/day (per-minute)</a:t>
            </a:r>
          </a:p>
          <a:p>
            <a:pPr>
              <a:spcAft>
                <a:spcPts val="400"/>
              </a:spcAft>
              <a:defRPr sz="1500">
                <a:latin typeface="Calibri"/>
              </a:defRPr>
            </a:pPr>
            <a:r>
              <a:t>848,599 per-tick records/day (1-second resolution)</a:t>
            </a:r>
          </a:p>
          <a:p>
            <a:pPr>
              <a:spcAft>
                <a:spcPts val="400"/>
              </a:spcAft>
              <a:defRPr sz="1500">
                <a:latin typeface="Calibri"/>
              </a:defRPr>
            </a:pPr>
            <a:r>
              <a:t>GNSS-anchored: ZED-F9P VTEC 41.7 TECU, ±1 TECU</a:t>
            </a:r>
          </a:p>
        </p:txBody>
      </p:sp>
      <p:pic>
        <p:nvPicPr>
          <p:cNvPr id="6" name="Picture 5" descr="fig4_dtec_rate_timeseries.png"/>
          <p:cNvPicPr>
            <a:picLocks noChangeAspect="1"/>
          </p:cNvPicPr>
          <p:nvPr/>
        </p:nvPicPr>
        <p:blipFill>
          <a:blip r:embed="rId2"/>
          <a:stretch>
            <a:fillRect/>
          </a:stretch>
        </p:blipFill>
        <p:spPr>
          <a:xfrm>
            <a:off x="5943600" y="822960"/>
            <a:ext cx="5943600"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Differential dTEC — Self-Consistency</a:t>
            </a:r>
          </a:p>
        </p:txBody>
      </p:sp>
      <p:sp>
        <p:nvSpPr>
          <p:cNvPr id="3" name="Content Placeholder 2"/>
          <p:cNvSpPr>
            <a:spLocks noGrp="1"/>
          </p:cNvSpPr>
          <p:nvPr>
            <p:ph idx="1"/>
          </p:nvPr>
        </p:nvSpPr>
        <p:spPr/>
        <p:txBody>
          <a:bodyPr/>
          <a:lstStyle/>
          <a:p/>
        </p:txBody>
      </p:sp>
      <p:sp>
        <p:nvSpPr>
          <p:cNvPr id="4" name="TextBox 3"/>
          <p:cNvSpPr txBox="1"/>
          <p:nvPr/>
        </p:nvSpPr>
        <p:spPr>
          <a:xfrm>
            <a:off x="365760" y="822960"/>
            <a:ext cx="5486400" cy="457200"/>
          </a:xfrm>
          <a:prstGeom prst="rect">
            <a:avLst/>
          </a:prstGeom>
          <a:noFill/>
        </p:spPr>
        <p:txBody>
          <a:bodyPr wrap="square">
            <a:spAutoFit/>
          </a:bodyPr>
          <a:lstStyle/>
          <a:p>
            <a:pPr algn="l">
              <a:defRPr sz="1600" b="1">
                <a:solidFill>
                  <a:srgbClr val="1B5E20"/>
                </a:solidFill>
                <a:latin typeface="Calibri"/>
              </a:defRPr>
            </a:pPr>
            <a:r>
              <a:t>Same ionosphere, different frequencies — do they agree?</a:t>
            </a:r>
          </a:p>
        </p:txBody>
      </p:sp>
      <p:graphicFrame>
        <p:nvGraphicFramePr>
          <p:cNvPr id="5" name="Table 4"/>
          <p:cNvGraphicFramePr>
            <a:graphicFrameLocks noGrp="1"/>
          </p:cNvGraphicFramePr>
          <p:nvPr/>
        </p:nvGraphicFramePr>
        <p:xfrm>
          <a:off x="365760" y="1645920"/>
          <a:ext cx="5029200" cy="1371600"/>
        </p:xfrm>
        <a:graphic>
          <a:graphicData uri="http://schemas.openxmlformats.org/drawingml/2006/table">
            <a:tbl>
              <a:tblPr firstRow="1" bandRow="1">
                <a:tableStyleId>{5C22544A-7EE6-4342-B048-85BDC9FD1C3A}</a:tableStyleId>
              </a:tblPr>
              <a:tblGrid>
                <a:gridCol w="1676400"/>
                <a:gridCol w="1676400"/>
                <a:gridCol w="1676400"/>
              </a:tblGrid>
              <a:tr h="457200">
                <a:tc>
                  <a:txBody>
                    <a:bodyPr/>
                    <a:lstStyle/>
                    <a:p>
                      <a:pPr>
                        <a:defRPr sz="1300" b="1">
                          <a:latin typeface="Calibri"/>
                        </a:defRPr>
                      </a:pPr>
                      <a:r>
                        <a:t>Station</a:t>
                      </a:r>
                    </a:p>
                  </a:txBody>
                  <a:tcPr/>
                </a:tc>
                <a:tc>
                  <a:txBody>
                    <a:bodyPr/>
                    <a:lstStyle/>
                    <a:p>
                      <a:pPr>
                        <a:defRPr sz="1300" b="1">
                          <a:latin typeface="Calibri"/>
                        </a:defRPr>
                      </a:pPr>
                      <a:r>
                        <a:t>Widest freq pair</a:t>
                      </a:r>
                    </a:p>
                  </a:txBody>
                  <a:tcPr/>
                </a:tc>
                <a:tc>
                  <a:txBody>
                    <a:bodyPr/>
                    <a:lstStyle/>
                    <a:p>
                      <a:pPr>
                        <a:defRPr sz="1300" b="1">
                          <a:latin typeface="Calibri"/>
                        </a:defRPr>
                      </a:pPr>
                      <a:r>
                        <a:t>RMS</a:t>
                      </a:r>
                    </a:p>
                  </a:txBody>
                  <a:tcPr/>
                </a:tc>
              </a:tr>
              <a:tr h="457200">
                <a:tc>
                  <a:txBody>
                    <a:bodyPr/>
                    <a:lstStyle/>
                    <a:p>
                      <a:pPr>
                        <a:defRPr sz="1200">
                          <a:latin typeface="Calibri"/>
                        </a:defRPr>
                      </a:pPr>
                      <a:r>
                        <a:t>CHU</a:t>
                      </a:r>
                    </a:p>
                  </a:txBody>
                  <a:tcPr/>
                </a:tc>
                <a:tc>
                  <a:txBody>
                    <a:bodyPr/>
                    <a:lstStyle/>
                    <a:p>
                      <a:pPr>
                        <a:defRPr sz="1200">
                          <a:latin typeface="Calibri"/>
                        </a:defRPr>
                      </a:pPr>
                      <a:r>
                        <a:t>3.33 – 14.67 MHz</a:t>
                      </a:r>
                    </a:p>
                  </a:txBody>
                  <a:tcPr/>
                </a:tc>
                <a:tc>
                  <a:txBody>
                    <a:bodyPr/>
                    <a:lstStyle/>
                    <a:p>
                      <a:pPr>
                        <a:defRPr sz="1200">
                          <a:latin typeface="Calibri"/>
                        </a:defRPr>
                      </a:pPr>
                      <a:r>
                        <a:t>0.005–0.007 TECU</a:t>
                      </a:r>
                    </a:p>
                  </a:txBody>
                  <a:tcPr/>
                </a:tc>
              </a:tr>
              <a:tr h="457200">
                <a:tc>
                  <a:txBody>
                    <a:bodyPr/>
                    <a:lstStyle/>
                    <a:p>
                      <a:pPr>
                        <a:defRPr sz="1200">
                          <a:latin typeface="Calibri"/>
                        </a:defRPr>
                      </a:pPr>
                      <a:r>
                        <a:t>WWV</a:t>
                      </a:r>
                    </a:p>
                  </a:txBody>
                  <a:tcPr/>
                </a:tc>
                <a:tc>
                  <a:txBody>
                    <a:bodyPr/>
                    <a:lstStyle/>
                    <a:p>
                      <a:pPr>
                        <a:defRPr sz="1200">
                          <a:latin typeface="Calibri"/>
                        </a:defRPr>
                      </a:pPr>
                      <a:r>
                        <a:t>2.50 – 25.00 MHz</a:t>
                      </a:r>
                    </a:p>
                  </a:txBody>
                  <a:tcPr/>
                </a:tc>
                <a:tc>
                  <a:txBody>
                    <a:bodyPr/>
                    <a:lstStyle/>
                    <a:p>
                      <a:pPr>
                        <a:defRPr sz="1200">
                          <a:latin typeface="Calibri"/>
                        </a:defRPr>
                      </a:pPr>
                      <a:r>
                        <a:t>0.005–0.026 TECU</a:t>
                      </a:r>
                    </a:p>
                  </a:txBody>
                  <a:tcPr/>
                </a:tc>
              </a:tr>
            </a:tbl>
          </a:graphicData>
        </a:graphic>
      </p:graphicFrame>
      <p:sp>
        <p:nvSpPr>
          <p:cNvPr id="6" name="TextBox 5"/>
          <p:cNvSpPr txBox="1"/>
          <p:nvPr/>
        </p:nvSpPr>
        <p:spPr>
          <a:xfrm>
            <a:off x="365760" y="3200400"/>
            <a:ext cx="5029200" cy="1828800"/>
          </a:xfrm>
          <a:prstGeom prst="rect">
            <a:avLst/>
          </a:prstGeom>
          <a:noFill/>
        </p:spPr>
        <p:txBody>
          <a:bodyPr wrap="square">
            <a:spAutoFit/>
          </a:bodyPr>
          <a:lstStyle/>
          <a:p>
            <a:pPr>
              <a:spcAft>
                <a:spcPts val="400"/>
              </a:spcAft>
              <a:defRPr sz="1500">
                <a:solidFill>
                  <a:srgbClr val="1B5E20"/>
                </a:solidFill>
                <a:latin typeface="Calibri"/>
              </a:defRPr>
            </a:pPr>
            <a:r>
              <a:t>22,474 records/day, all GOOD quality</a:t>
            </a:r>
          </a:p>
          <a:p>
            <a:pPr>
              <a:spcAft>
                <a:spcPts val="400"/>
              </a:spcAft>
              <a:defRPr sz="1500">
                <a:solidFill>
                  <a:srgbClr val="1B5E20"/>
                </a:solidFill>
                <a:latin typeface="Calibri"/>
              </a:defRPr>
            </a:pPr>
            <a:r>
              <a:t>Also a Tier 2 product</a:t>
            </a:r>
          </a:p>
          <a:p>
            <a:pPr>
              <a:spcAft>
                <a:spcPts val="400"/>
              </a:spcAft>
              <a:defRPr sz="1500">
                <a:solidFill>
                  <a:srgbClr val="1B5E20"/>
                </a:solidFill>
                <a:latin typeface="Calibri"/>
              </a:defRPr>
            </a:pPr>
            <a:r>
              <a:t>Cross-frequency consistency validates the physics</a:t>
            </a:r>
          </a:p>
        </p:txBody>
      </p:sp>
      <p:pic>
        <p:nvPicPr>
          <p:cNvPr id="7" name="Picture 6" descr="fig5_differential_dtec.png"/>
          <p:cNvPicPr>
            <a:picLocks noChangeAspect="1"/>
          </p:cNvPicPr>
          <p:nvPr/>
        </p:nvPicPr>
        <p:blipFill>
          <a:blip r:embed="rId2"/>
          <a:stretch>
            <a:fillRect/>
          </a:stretch>
        </p:blipFill>
        <p:spPr>
          <a:xfrm>
            <a:off x="5669280" y="822960"/>
            <a:ext cx="6217920"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Cross-Domain Consistency — Physics Cascade</a:t>
            </a:r>
          </a:p>
        </p:txBody>
      </p:sp>
      <p:sp>
        <p:nvSpPr>
          <p:cNvPr id="3" name="Content Placeholder 2"/>
          <p:cNvSpPr>
            <a:spLocks noGrp="1"/>
          </p:cNvSpPr>
          <p:nvPr>
            <p:ph idx="1"/>
          </p:nvPr>
        </p:nvSpPr>
        <p:spPr/>
        <p:txBody>
          <a:bodyPr/>
          <a:lstStyle/>
          <a:p/>
        </p:txBody>
      </p:sp>
      <p:pic>
        <p:nvPicPr>
          <p:cNvPr id="4" name="Picture 3" descr="fig13_physics_cascade.png"/>
          <p:cNvPicPr>
            <a:picLocks noChangeAspect="1"/>
          </p:cNvPicPr>
          <p:nvPr/>
        </p:nvPicPr>
        <p:blipFill>
          <a:blip r:embed="rId2"/>
          <a:stretch>
            <a:fillRect/>
          </a:stretch>
        </p:blipFill>
        <p:spPr>
          <a:xfrm>
            <a:off x="274320" y="731520"/>
            <a:ext cx="6858000" cy="5852160"/>
          </a:xfrm>
          <a:prstGeom prst="rect">
            <a:avLst/>
          </a:prstGeom>
        </p:spPr>
      </p:pic>
      <p:sp>
        <p:nvSpPr>
          <p:cNvPr id="5" name="TextBox 4"/>
          <p:cNvSpPr txBox="1"/>
          <p:nvPr/>
        </p:nvSpPr>
        <p:spPr>
          <a:xfrm>
            <a:off x="7315200" y="822960"/>
            <a:ext cx="4572000" cy="457200"/>
          </a:xfrm>
          <a:prstGeom prst="rect">
            <a:avLst/>
          </a:prstGeom>
          <a:noFill/>
        </p:spPr>
        <p:txBody>
          <a:bodyPr wrap="square">
            <a:spAutoFit/>
          </a:bodyPr>
          <a:lstStyle/>
          <a:p>
            <a:pPr algn="l">
              <a:defRPr sz="1600" b="1">
                <a:solidFill>
                  <a:srgbClr val="1565C0"/>
                </a:solidFill>
                <a:latin typeface="Calibri"/>
              </a:defRPr>
            </a:pPr>
            <a:r>
              <a:t>CHU 7.85 MHz — exclusive channel</a:t>
            </a:r>
          </a:p>
        </p:txBody>
      </p:sp>
      <p:sp>
        <p:nvSpPr>
          <p:cNvPr id="6" name="TextBox 5"/>
          <p:cNvSpPr txBox="1"/>
          <p:nvPr/>
        </p:nvSpPr>
        <p:spPr>
          <a:xfrm>
            <a:off x="7315200" y="1371600"/>
            <a:ext cx="4572000" cy="4114800"/>
          </a:xfrm>
          <a:prstGeom prst="rect">
            <a:avLst/>
          </a:prstGeom>
          <a:noFill/>
        </p:spPr>
        <p:txBody>
          <a:bodyPr wrap="square">
            <a:spAutoFit/>
          </a:bodyPr>
          <a:lstStyle/>
          <a:p>
            <a:pPr>
              <a:spcAft>
                <a:spcPts val="400"/>
              </a:spcAft>
              <a:defRPr sz="1400">
                <a:latin typeface="Calibri"/>
              </a:defRPr>
            </a:pPr>
            <a:r>
              <a:t>Panel A: D_clock (absolute delay, Tier 3+)</a:t>
            </a:r>
          </a:p>
          <a:p>
            <a:pPr>
              <a:spcAft>
                <a:spcPts val="400"/>
              </a:spcAft>
              <a:defRPr sz="1400">
                <a:latin typeface="Calibri"/>
              </a:defRPr>
            </a:pPr>
            <a:r>
              <a:t>Panel B: Doppler (phase rate, Tier 2)</a:t>
            </a:r>
          </a:p>
          <a:p>
            <a:pPr>
              <a:spcAft>
                <a:spcPts val="400"/>
              </a:spcAft>
              <a:defRPr sz="1400">
                <a:latin typeface="Calibri"/>
              </a:defRPr>
            </a:pPr>
            <a:r>
              <a:t>Panel C: dTEC/dt (derived from Doppler)</a:t>
            </a:r>
          </a:p>
          <a:p>
            <a:pPr>
              <a:spcAft>
                <a:spcPts val="400"/>
              </a:spcAft>
              <a:defRPr sz="1400">
                <a:latin typeface="Calibri"/>
              </a:defRPr>
            </a:pPr>
            <a:r>
              <a:t>Panel D: Integrated Doppler vs D_clock</a:t>
            </a:r>
          </a:p>
          <a:p>
            <a:pPr>
              <a:spcAft>
                <a:spcPts val="400"/>
              </a:spcAft>
              <a:defRPr sz="1400">
                <a:latin typeface="Calibri"/>
              </a:defRPr>
            </a:pPr>
          </a:p>
          <a:p>
            <a:pPr>
              <a:spcAft>
                <a:spcPts val="400"/>
              </a:spcAft>
              <a:defRPr sz="1400">
                <a:latin typeface="Calibri"/>
              </a:defRPr>
            </a:pPr>
            <a:r>
              <a:t>The money shot (Panel D):</a:t>
            </a:r>
          </a:p>
          <a:p>
            <a:pPr>
              <a:spcAft>
                <a:spcPts val="400"/>
              </a:spcAft>
              <a:defRPr sz="1400">
                <a:latin typeface="Calibri"/>
              </a:defRPr>
            </a:pPr>
            <a:r>
              <a:t>Integrated Doppler tracks the shape</a:t>
            </a:r>
          </a:p>
          <a:p>
            <a:pPr>
              <a:spcAft>
                <a:spcPts val="400"/>
              </a:spcAft>
              <a:defRPr sz="1400">
                <a:latin typeface="Calibri"/>
              </a:defRPr>
            </a:pPr>
            <a:r>
              <a:t>of D_clock at 82× smaller amplitude</a:t>
            </a:r>
          </a:p>
          <a:p>
            <a:pPr>
              <a:spcAft>
                <a:spcPts val="400"/>
              </a:spcAft>
              <a:defRPr sz="1400">
                <a:latin typeface="Calibri"/>
              </a:defRPr>
            </a:pPr>
            <a:r>
              <a:t>r = 0.60 correlation</a:t>
            </a:r>
          </a:p>
          <a:p>
            <a:pPr>
              <a:spcAft>
                <a:spcPts val="400"/>
              </a:spcAft>
              <a:defRPr sz="1400">
                <a:latin typeface="Calibri"/>
              </a:defRPr>
            </a:pPr>
          </a:p>
          <a:p>
            <a:pPr>
              <a:spcAft>
                <a:spcPts val="400"/>
              </a:spcAft>
              <a:defRPr sz="1400">
                <a:latin typeface="Calibri"/>
              </a:defRPr>
            </a:pPr>
            <a:r>
              <a:t>Same ionosphere, different physics,</a:t>
            </a:r>
          </a:p>
          <a:p>
            <a:pPr>
              <a:spcAft>
                <a:spcPts val="400"/>
              </a:spcAft>
              <a:defRPr sz="1400">
                <a:latin typeface="Calibri"/>
              </a:defRPr>
            </a:pPr>
            <a:r>
              <a:t>consistent measurements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17 Simultaneous Ionospheric Paths</a:t>
            </a:r>
          </a:p>
        </p:txBody>
      </p:sp>
      <p:sp>
        <p:nvSpPr>
          <p:cNvPr id="3" name="Content Placeholder 2"/>
          <p:cNvSpPr>
            <a:spLocks noGrp="1"/>
          </p:cNvSpPr>
          <p:nvPr>
            <p:ph idx="1"/>
          </p:nvPr>
        </p:nvSpPr>
        <p:spPr/>
        <p:txBody>
          <a:bodyPr/>
          <a:lstStyle/>
          <a:p/>
        </p:txBody>
      </p:sp>
      <p:pic>
        <p:nvPicPr>
          <p:cNvPr id="4" name="Picture 3" descr="fig10_ionospheric_fingerprint.png"/>
          <p:cNvPicPr>
            <a:picLocks noChangeAspect="1"/>
          </p:cNvPicPr>
          <p:nvPr/>
        </p:nvPicPr>
        <p:blipFill>
          <a:blip r:embed="rId2"/>
          <a:stretch>
            <a:fillRect/>
          </a:stretch>
        </p:blipFill>
        <p:spPr>
          <a:xfrm>
            <a:off x="182880" y="731520"/>
            <a:ext cx="5943600" cy="3017520"/>
          </a:xfrm>
          <a:prstGeom prst="rect">
            <a:avLst/>
          </a:prstGeom>
        </p:spPr>
      </p:pic>
      <p:pic>
        <p:nvPicPr>
          <p:cNvPr id="5" name="Picture 4" descr="fig12_correlation_heatmap.png"/>
          <p:cNvPicPr>
            <a:picLocks noChangeAspect="1"/>
          </p:cNvPicPr>
          <p:nvPr/>
        </p:nvPicPr>
        <p:blipFill>
          <a:blip r:embed="rId3"/>
          <a:stretch>
            <a:fillRect/>
          </a:stretch>
        </p:blipFill>
        <p:spPr>
          <a:xfrm>
            <a:off x="182880" y="3840480"/>
            <a:ext cx="5943600" cy="2743200"/>
          </a:xfrm>
          <a:prstGeom prst="rect">
            <a:avLst/>
          </a:prstGeom>
        </p:spPr>
      </p:pic>
      <p:pic>
        <p:nvPicPr>
          <p:cNvPr id="6" name="Picture 5" descr="fig14_frequency_ladder.png"/>
          <p:cNvPicPr>
            <a:picLocks noChangeAspect="1"/>
          </p:cNvPicPr>
          <p:nvPr/>
        </p:nvPicPr>
        <p:blipFill>
          <a:blip r:embed="rId4"/>
          <a:stretch>
            <a:fillRect/>
          </a:stretch>
        </p:blipFill>
        <p:spPr>
          <a:xfrm>
            <a:off x="6217920" y="731520"/>
            <a:ext cx="5760720" cy="3017520"/>
          </a:xfrm>
          <a:prstGeom prst="rect">
            <a:avLst/>
          </a:prstGeom>
        </p:spPr>
      </p:pic>
      <p:pic>
        <p:nvPicPr>
          <p:cNvPr id="7" name="Picture 6" descr="fig11_doppler_scatter_triptych.png"/>
          <p:cNvPicPr>
            <a:picLocks noChangeAspect="1"/>
          </p:cNvPicPr>
          <p:nvPr/>
        </p:nvPicPr>
        <p:blipFill>
          <a:blip r:embed="rId5"/>
          <a:stretch>
            <a:fillRect/>
          </a:stretch>
        </p:blipFill>
        <p:spPr>
          <a:xfrm>
            <a:off x="6217920" y="3840480"/>
            <a:ext cx="5760720" cy="2743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Next — Honest Assessment</a:t>
            </a:r>
          </a:p>
        </p:txBody>
      </p:sp>
      <p:sp>
        <p:nvSpPr>
          <p:cNvPr id="3" name="Content Placeholder 2"/>
          <p:cNvSpPr>
            <a:spLocks noGrp="1"/>
          </p:cNvSpPr>
          <p:nvPr>
            <p:ph idx="1"/>
          </p:nvPr>
        </p:nvSpPr>
        <p:spPr/>
        <p:txBody>
          <a:bodyPr/>
          <a:lstStyle/>
          <a:p/>
        </p:txBody>
      </p:sp>
      <p:sp>
        <p:nvSpPr>
          <p:cNvPr id="4" name="TextBox 3"/>
          <p:cNvSpPr txBox="1"/>
          <p:nvPr/>
        </p:nvSpPr>
        <p:spPr>
          <a:xfrm>
            <a:off x="365760" y="822960"/>
            <a:ext cx="5486400" cy="365760"/>
          </a:xfrm>
          <a:prstGeom prst="rect">
            <a:avLst/>
          </a:prstGeom>
          <a:noFill/>
        </p:spPr>
        <p:txBody>
          <a:bodyPr wrap="square">
            <a:spAutoFit/>
          </a:bodyPr>
          <a:lstStyle/>
          <a:p>
            <a:pPr algn="l">
              <a:defRPr sz="1600" b="1">
                <a:solidFill>
                  <a:srgbClr val="DC3545"/>
                </a:solidFill>
                <a:latin typeface="Calibri"/>
              </a:defRPr>
            </a:pPr>
            <a:r>
              <a:t>Current limits:</a:t>
            </a:r>
          </a:p>
        </p:txBody>
      </p:sp>
      <p:sp>
        <p:nvSpPr>
          <p:cNvPr id="5" name="TextBox 4"/>
          <p:cNvSpPr txBox="1"/>
          <p:nvPr/>
        </p:nvSpPr>
        <p:spPr>
          <a:xfrm>
            <a:off x="365760" y="1280160"/>
            <a:ext cx="5486400" cy="1371600"/>
          </a:xfrm>
          <a:prstGeom prst="rect">
            <a:avLst/>
          </a:prstGeom>
          <a:noFill/>
        </p:spPr>
        <p:txBody>
          <a:bodyPr wrap="square">
            <a:spAutoFit/>
          </a:bodyPr>
          <a:lstStyle/>
          <a:p>
            <a:pPr>
              <a:spcAft>
                <a:spcPts val="400"/>
              </a:spcAft>
              <a:defRPr sz="1400">
                <a:latin typeface="Calibri"/>
              </a:defRPr>
            </a:pPr>
            <a:r>
              <a:t>Group-delay TEC: below noise floor (SNR 0.13)</a:t>
            </a:r>
          </a:p>
          <a:p>
            <a:pPr>
              <a:spcAft>
                <a:spcPts val="400"/>
              </a:spcAft>
              <a:defRPr sz="1400">
                <a:latin typeface="Calibri"/>
              </a:defRPr>
            </a:pPr>
            <a:r>
              <a:t>VTEC maps from HF alone: noise-dominated</a:t>
            </a:r>
          </a:p>
          <a:p>
            <a:pPr>
              <a:spcAft>
                <a:spcPts val="400"/>
              </a:spcAft>
              <a:defRPr sz="1400">
                <a:latin typeface="Calibri"/>
              </a:defRPr>
            </a:pPr>
            <a:r>
              <a:t>Scintillation: infrastructure ready, awaiting storm</a:t>
            </a:r>
          </a:p>
        </p:txBody>
      </p:sp>
      <p:sp>
        <p:nvSpPr>
          <p:cNvPr id="6" name="TextBox 5"/>
          <p:cNvSpPr txBox="1"/>
          <p:nvPr/>
        </p:nvSpPr>
        <p:spPr>
          <a:xfrm>
            <a:off x="365760" y="2560320"/>
            <a:ext cx="5486400" cy="365760"/>
          </a:xfrm>
          <a:prstGeom prst="rect">
            <a:avLst/>
          </a:prstGeom>
          <a:noFill/>
        </p:spPr>
        <p:txBody>
          <a:bodyPr wrap="square">
            <a:spAutoFit/>
          </a:bodyPr>
          <a:lstStyle/>
          <a:p>
            <a:pPr algn="l">
              <a:defRPr sz="1600" b="1">
                <a:solidFill>
                  <a:srgbClr val="1B5E20"/>
                </a:solidFill>
                <a:latin typeface="Calibri"/>
              </a:defRPr>
            </a:pPr>
            <a:r>
              <a:t>Just deployed:</a:t>
            </a:r>
          </a:p>
        </p:txBody>
      </p:sp>
      <p:sp>
        <p:nvSpPr>
          <p:cNvPr id="7" name="TextBox 6"/>
          <p:cNvSpPr txBox="1"/>
          <p:nvPr/>
        </p:nvSpPr>
        <p:spPr>
          <a:xfrm>
            <a:off x="365760" y="2926080"/>
            <a:ext cx="5486400" cy="731520"/>
          </a:xfrm>
          <a:prstGeom prst="rect">
            <a:avLst/>
          </a:prstGeom>
          <a:noFill/>
        </p:spPr>
        <p:txBody>
          <a:bodyPr wrap="square">
            <a:spAutoFit/>
          </a:bodyPr>
          <a:lstStyle/>
          <a:p>
            <a:pPr>
              <a:spcAft>
                <a:spcPts val="400"/>
              </a:spcAft>
              <a:defRPr sz="1400">
                <a:latin typeface="Calibri"/>
              </a:defRPr>
            </a:pPr>
            <a:r>
              <a:t>✅ GNSS-anchored dTEC (ZED-F9P, ±1 TECU)</a:t>
            </a:r>
          </a:p>
        </p:txBody>
      </p:sp>
      <p:sp>
        <p:nvSpPr>
          <p:cNvPr id="8" name="TextBox 7"/>
          <p:cNvSpPr txBox="1"/>
          <p:nvPr/>
        </p:nvSpPr>
        <p:spPr>
          <a:xfrm>
            <a:off x="365760" y="3566160"/>
            <a:ext cx="5486400" cy="365760"/>
          </a:xfrm>
          <a:prstGeom prst="rect">
            <a:avLst/>
          </a:prstGeom>
          <a:noFill/>
        </p:spPr>
        <p:txBody>
          <a:bodyPr wrap="square">
            <a:spAutoFit/>
          </a:bodyPr>
          <a:lstStyle/>
          <a:p>
            <a:pPr algn="l">
              <a:defRPr sz="1600" b="1">
                <a:solidFill>
                  <a:srgbClr val="1565C0"/>
                </a:solidFill>
                <a:latin typeface="Calibri"/>
              </a:defRPr>
            </a:pPr>
            <a:r>
              <a:t>Under development:</a:t>
            </a:r>
          </a:p>
        </p:txBody>
      </p:sp>
      <p:sp>
        <p:nvSpPr>
          <p:cNvPr id="9" name="TextBox 8"/>
          <p:cNvSpPr txBox="1"/>
          <p:nvPr/>
        </p:nvSpPr>
        <p:spPr>
          <a:xfrm>
            <a:off x="365760" y="3931920"/>
            <a:ext cx="5486400" cy="731520"/>
          </a:xfrm>
          <a:prstGeom prst="rect">
            <a:avLst/>
          </a:prstGeom>
          <a:noFill/>
        </p:spPr>
        <p:txBody>
          <a:bodyPr wrap="square">
            <a:spAutoFit/>
          </a:bodyPr>
          <a:lstStyle/>
          <a:p>
            <a:pPr>
              <a:spcAft>
                <a:spcPts val="400"/>
              </a:spcAft>
              <a:defRPr sz="1400">
                <a:latin typeface="Calibri"/>
              </a:defRPr>
            </a:pPr>
            <a:r>
              <a:t>Tier 4: PPS injection into HF IQ stream</a:t>
            </a:r>
          </a:p>
          <a:p>
            <a:pPr>
              <a:spcAft>
                <a:spcPts val="400"/>
              </a:spcAft>
              <a:defRPr sz="1400">
                <a:latin typeface="Calibri"/>
              </a:defRPr>
            </a:pPr>
            <a:r>
              <a:t>Per-path slant correction for GNSS anchoring</a:t>
            </a:r>
          </a:p>
        </p:txBody>
      </p:sp>
      <p:sp>
        <p:nvSpPr>
          <p:cNvPr id="10" name="TextBox 9"/>
          <p:cNvSpPr txBox="1"/>
          <p:nvPr/>
        </p:nvSpPr>
        <p:spPr>
          <a:xfrm>
            <a:off x="6217920" y="822960"/>
            <a:ext cx="5486400" cy="365760"/>
          </a:xfrm>
          <a:prstGeom prst="rect">
            <a:avLst/>
          </a:prstGeom>
          <a:noFill/>
        </p:spPr>
        <p:txBody>
          <a:bodyPr wrap="square">
            <a:spAutoFit/>
          </a:bodyPr>
          <a:lstStyle/>
          <a:p>
            <a:pPr algn="l">
              <a:defRPr sz="1600" b="1">
                <a:solidFill>
                  <a:srgbClr val="FF8C00"/>
                </a:solidFill>
                <a:latin typeface="Calibri"/>
              </a:defRPr>
            </a:pPr>
            <a:r>
              <a:t>Network of stations →</a:t>
            </a:r>
          </a:p>
        </p:txBody>
      </p:sp>
      <p:sp>
        <p:nvSpPr>
          <p:cNvPr id="11" name="TextBox 10"/>
          <p:cNvSpPr txBox="1"/>
          <p:nvPr/>
        </p:nvSpPr>
        <p:spPr>
          <a:xfrm>
            <a:off x="6217920" y="1280160"/>
            <a:ext cx="5303520" cy="1828800"/>
          </a:xfrm>
          <a:prstGeom prst="rect">
            <a:avLst/>
          </a:prstGeom>
          <a:noFill/>
        </p:spPr>
        <p:txBody>
          <a:bodyPr wrap="square">
            <a:spAutoFit/>
          </a:bodyPr>
          <a:lstStyle/>
          <a:p>
            <a:pPr>
              <a:spcAft>
                <a:spcPts val="400"/>
              </a:spcAft>
              <a:defRPr sz="1400">
                <a:latin typeface="Calibri"/>
              </a:defRPr>
            </a:pPr>
            <a:r>
              <a:t>Spatial TEC gradients → horizontal structure</a:t>
            </a:r>
          </a:p>
          <a:p>
            <a:pPr>
              <a:spcAft>
                <a:spcPts val="400"/>
              </a:spcAft>
              <a:defRPr sz="1400">
                <a:latin typeface="Calibri"/>
              </a:defRPr>
            </a:pPr>
            <a:r>
              <a:t>TID wavefront tracking (direction + velocity)</a:t>
            </a:r>
          </a:p>
          <a:p>
            <a:pPr>
              <a:spcAft>
                <a:spcPts val="400"/>
              </a:spcAft>
              <a:defRPr sz="1400">
                <a:latin typeface="Calibri"/>
              </a:defRPr>
            </a:pPr>
            <a:r>
              <a:t>Continental-scale passive oblique ionosonde</a:t>
            </a:r>
          </a:p>
          <a:p>
            <a:pPr>
              <a:spcAft>
                <a:spcPts val="400"/>
              </a:spcAft>
              <a:defRPr sz="1400">
                <a:latin typeface="Calibri"/>
              </a:defRPr>
            </a:pPr>
            <a:r>
              <a:t>No transmitter needed — use existing infrastructure</a:t>
            </a:r>
          </a:p>
        </p:txBody>
      </p:sp>
      <p:sp>
        <p:nvSpPr>
          <p:cNvPr id="12" name="TextBox 11"/>
          <p:cNvSpPr txBox="1"/>
          <p:nvPr/>
        </p:nvSpPr>
        <p:spPr>
          <a:xfrm>
            <a:off x="6217920" y="3291840"/>
            <a:ext cx="5486400" cy="365760"/>
          </a:xfrm>
          <a:prstGeom prst="rect">
            <a:avLst/>
          </a:prstGeom>
          <a:noFill/>
        </p:spPr>
        <p:txBody>
          <a:bodyPr wrap="square">
            <a:spAutoFit/>
          </a:bodyPr>
          <a:lstStyle/>
          <a:p>
            <a:pPr algn="l">
              <a:defRPr sz="1600" b="1">
                <a:solidFill>
                  <a:srgbClr val="FF8C00"/>
                </a:solidFill>
                <a:latin typeface="Calibri"/>
              </a:defRPr>
            </a:pPr>
            <a:r>
              <a:t>2–4 GPSDO-locked RX888s at one site →</a:t>
            </a:r>
          </a:p>
        </p:txBody>
      </p:sp>
      <p:sp>
        <p:nvSpPr>
          <p:cNvPr id="13" name="TextBox 12"/>
          <p:cNvSpPr txBox="1"/>
          <p:nvPr/>
        </p:nvSpPr>
        <p:spPr>
          <a:xfrm>
            <a:off x="6217920" y="3749039"/>
            <a:ext cx="5303520" cy="2743200"/>
          </a:xfrm>
          <a:prstGeom prst="rect">
            <a:avLst/>
          </a:prstGeom>
          <a:noFill/>
        </p:spPr>
        <p:txBody>
          <a:bodyPr wrap="square">
            <a:spAutoFit/>
          </a:bodyPr>
          <a:lstStyle/>
          <a:p>
            <a:pPr>
              <a:spcAft>
                <a:spcPts val="400"/>
              </a:spcAft>
              <a:defRPr sz="1400">
                <a:latin typeface="Calibri"/>
              </a:defRPr>
            </a:pPr>
            <a:r>
              <a:t>Phased-array angle-of-arrival (λ/2 ≈ 15 m at 10 MHz)</a:t>
            </a:r>
          </a:p>
          <a:p>
            <a:pPr>
              <a:spcAft>
                <a:spcPts val="400"/>
              </a:spcAft>
              <a:defRPr sz="1400">
                <a:latin typeface="Calibri"/>
              </a:defRPr>
            </a:pPr>
            <a:r>
              <a:t>Separate multipath by direction, not just delay</a:t>
            </a:r>
          </a:p>
          <a:p>
            <a:pPr>
              <a:spcAft>
                <a:spcPts val="400"/>
              </a:spcAft>
              <a:defRPr sz="1400">
                <a:latin typeface="Calibri"/>
              </a:defRPr>
            </a:pPr>
            <a:r>
              <a:t>Per-mode Doppler and dTEC on individual ray paths</a:t>
            </a:r>
          </a:p>
          <a:p>
            <a:pPr>
              <a:spcAft>
                <a:spcPts val="400"/>
              </a:spcAft>
              <a:defRPr sz="1400">
                <a:latin typeface="Calibri"/>
              </a:defRPr>
            </a:pPr>
            <a:r>
              <a:t>Scintillation spatial coherence measurements</a:t>
            </a:r>
          </a:p>
          <a:p>
            <a:pPr>
              <a:spcAft>
                <a:spcPts val="400"/>
              </a:spcAft>
              <a:defRPr sz="1400">
                <a:latin typeface="Calibri"/>
              </a:defRPr>
            </a:pPr>
            <a:r>
              <a:t>Same GPSDO → zero relative timing error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&amp; Call to Action</a:t>
            </a:r>
          </a:p>
        </p:txBody>
      </p:sp>
      <p:sp>
        <p:nvSpPr>
          <p:cNvPr id="3" name="Content Placeholder 2"/>
          <p:cNvSpPr>
            <a:spLocks noGrp="1"/>
          </p:cNvSpPr>
          <p:nvPr>
            <p:ph idx="1"/>
          </p:nvPr>
        </p:nvSpPr>
        <p:spPr/>
        <p:txBody>
          <a:bodyPr/>
          <a:lstStyle/>
          <a:p/>
        </p:txBody>
      </p:sp>
      <p:sp>
        <p:nvSpPr>
          <p:cNvPr id="4" name="TextBox 3"/>
          <p:cNvSpPr txBox="1"/>
          <p:nvPr/>
        </p:nvSpPr>
        <p:spPr>
          <a:xfrm>
            <a:off x="365760" y="914400"/>
            <a:ext cx="10972800" cy="548640"/>
          </a:xfrm>
          <a:prstGeom prst="rect">
            <a:avLst/>
          </a:prstGeom>
          <a:noFill/>
        </p:spPr>
        <p:txBody>
          <a:bodyPr wrap="square">
            <a:spAutoFit/>
          </a:bodyPr>
          <a:lstStyle/>
          <a:p>
            <a:pPr algn="l">
              <a:defRPr sz="2200" b="1">
                <a:solidFill>
                  <a:srgbClr val="1B5E20"/>
                </a:solidFill>
                <a:latin typeface="Calibri"/>
              </a:defRPr>
            </a:pPr>
            <a:r>
              <a:t>With an RX888 (~$180) and a GPSDO (~$162), you can:</a:t>
            </a:r>
          </a:p>
        </p:txBody>
      </p:sp>
      <p:sp>
        <p:nvSpPr>
          <p:cNvPr id="5" name="TextBox 4"/>
          <p:cNvSpPr txBox="1"/>
          <p:nvPr/>
        </p:nvSpPr>
        <p:spPr>
          <a:xfrm>
            <a:off x="548640" y="1645920"/>
            <a:ext cx="10515600" cy="2286000"/>
          </a:xfrm>
          <a:prstGeom prst="rect">
            <a:avLst/>
          </a:prstGeom>
          <a:noFill/>
        </p:spPr>
        <p:txBody>
          <a:bodyPr wrap="square">
            <a:spAutoFit/>
          </a:bodyPr>
          <a:lstStyle/>
          <a:p>
            <a:pPr>
              <a:spcAft>
                <a:spcPts val="400"/>
              </a:spcAft>
              <a:defRPr sz="1800">
                <a:solidFill>
                  <a:srgbClr val="222222"/>
                </a:solidFill>
                <a:latin typeface="Calibri"/>
              </a:defRPr>
            </a:pPr>
            <a:r>
              <a:t>Measure ionospheric Doppler at 99.7% coverage, 24/7</a:t>
            </a:r>
          </a:p>
          <a:p>
            <a:pPr>
              <a:spcAft>
                <a:spcPts val="400"/>
              </a:spcAft>
              <a:defRPr sz="1800">
                <a:solidFill>
                  <a:srgbClr val="222222"/>
                </a:solidFill>
                <a:latin typeface="Calibri"/>
              </a:defRPr>
            </a:pPr>
            <a:r>
              <a:t>Extract dTEC/dt at ~6 mTECU/min sensitivity on 17 paths</a:t>
            </a:r>
          </a:p>
          <a:p>
            <a:pPr>
              <a:spcAft>
                <a:spcPts val="400"/>
              </a:spcAft>
              <a:defRPr sz="1800">
                <a:solidFill>
                  <a:srgbClr val="222222"/>
                </a:solidFill>
                <a:latin typeface="Calibri"/>
              </a:defRPr>
            </a:pPr>
            <a:r>
              <a:t>Discriminate three co-channel stations via physics</a:t>
            </a:r>
          </a:p>
          <a:p>
            <a:pPr>
              <a:spcAft>
                <a:spcPts val="400"/>
              </a:spcAft>
              <a:defRPr sz="1800">
                <a:solidFill>
                  <a:srgbClr val="222222"/>
                </a:solidFill>
                <a:latin typeface="Calibri"/>
              </a:defRPr>
            </a:pPr>
            <a:r>
              <a:t>Self-recover UTC to ±1 ms from the time signals</a:t>
            </a:r>
          </a:p>
        </p:txBody>
      </p:sp>
      <p:sp>
        <p:nvSpPr>
          <p:cNvPr id="6" name="TextBox 5"/>
          <p:cNvSpPr txBox="1"/>
          <p:nvPr/>
        </p:nvSpPr>
        <p:spPr>
          <a:xfrm>
            <a:off x="548640" y="3657600"/>
            <a:ext cx="10515600" cy="457200"/>
          </a:xfrm>
          <a:prstGeom prst="rect">
            <a:avLst/>
          </a:prstGeom>
          <a:noFill/>
        </p:spPr>
        <p:txBody>
          <a:bodyPr wrap="square">
            <a:spAutoFit/>
          </a:bodyPr>
          <a:lstStyle/>
          <a:p>
            <a:pPr algn="l">
              <a:defRPr sz="1600" b="0">
                <a:solidFill>
                  <a:srgbClr val="444444"/>
                </a:solidFill>
                <a:latin typeface="Calibri"/>
              </a:defRPr>
            </a:pPr>
            <a:r>
              <a:t>Daily output: 24K timing · 850K phase · 17K dTEC · 22K consistency checks</a:t>
            </a:r>
          </a:p>
        </p:txBody>
      </p:sp>
      <p:sp>
        <p:nvSpPr>
          <p:cNvPr id="7" name="TextBox 6"/>
          <p:cNvSpPr txBox="1"/>
          <p:nvPr/>
        </p:nvSpPr>
        <p:spPr>
          <a:xfrm>
            <a:off x="548640" y="4389120"/>
            <a:ext cx="10515600" cy="457200"/>
          </a:xfrm>
          <a:prstGeom prst="rect">
            <a:avLst/>
          </a:prstGeom>
          <a:noFill/>
        </p:spPr>
        <p:txBody>
          <a:bodyPr wrap="square">
            <a:spAutoFit/>
          </a:bodyPr>
          <a:lstStyle/>
          <a:p>
            <a:pPr algn="l">
              <a:defRPr sz="1800" b="1">
                <a:solidFill>
                  <a:srgbClr val="2176FF"/>
                </a:solidFill>
                <a:latin typeface="Calibri"/>
              </a:defRPr>
            </a:pPr>
            <a:r>
              <a:t>Open source: github.com/mijahauan/hf-timestd  (MIT license)</a:t>
            </a:r>
          </a:p>
        </p:txBody>
      </p:sp>
      <p:sp>
        <p:nvSpPr>
          <p:cNvPr id="8" name="TextBox 7"/>
          <p:cNvSpPr txBox="1"/>
          <p:nvPr/>
        </p:nvSpPr>
        <p:spPr>
          <a:xfrm>
            <a:off x="548640" y="5303520"/>
            <a:ext cx="10515600" cy="914400"/>
          </a:xfrm>
          <a:prstGeom prst="rect">
            <a:avLst/>
          </a:prstGeom>
          <a:noFill/>
        </p:spPr>
        <p:txBody>
          <a:bodyPr wrap="square">
            <a:spAutoFit/>
          </a:bodyPr>
          <a:lstStyle/>
          <a:p>
            <a:pPr algn="ctr">
              <a:defRPr sz="2000" b="1">
                <a:solidFill>
                  <a:srgbClr val="1B5E20"/>
                </a:solidFill>
                <a:latin typeface="Calibri"/>
              </a:defRPr>
            </a:pPr>
            <a:r>
              <a:t>~$340 of hardware, open-source software, and the time standard stations already on the air → a 17-path ionospheric sounder running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139</Words>
  <Application>Microsoft Office PowerPoint</Application>
  <PresentationFormat>Widescreen</PresentationFormat>
  <Paragraphs>22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Presentation Title</vt:lpstr>
      <vt:lpstr>Introduction</vt:lpstr>
      <vt:lpstr>Methodology</vt:lpstr>
      <vt:lpstr>Results</vt:lpstr>
      <vt:lpstr>Discussion</vt:lpstr>
      <vt:lpstr>Summary</vt:lpstr>
      <vt:lpstr>Acknowledgments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Dr. Nathaniel A. Frissell Ph.D.</dc:creator>
  <cp:lastModifiedBy>Dr. Nathaniel A. Frissell Ph.D.</cp:lastModifiedBy>
  <cp:revision>2</cp:revision>
  <dcterms:created xsi:type="dcterms:W3CDTF">2023-12-22T02:13:30Z</dcterms:created>
  <dcterms:modified xsi:type="dcterms:W3CDTF">2026-02-10T02:46:54Z</dcterms:modified>
</cp:coreProperties>
</file>